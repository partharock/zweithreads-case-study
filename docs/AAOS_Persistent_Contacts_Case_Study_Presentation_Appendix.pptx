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12192000" cy="6858000" type="screen16x9"/>
  <p:notesSz cx="6858000" cy="9144000"/>
  <p:defaultTextStyle>
    <a:defPPr/>
    <a:lvl1pPr marL="0" indent="0">
      <a:defRPr sz="1800"/>
    </a:lvl1pPr>
    <a:lvl2pPr marL="457200" indent="0">
      <a:defRPr sz="1600"/>
    </a:lvl2pPr>
    <a:lvl3pPr marL="914400" indent="0">
      <a:defRPr sz="1400"/>
    </a:lvl3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/>
  <p:notesTextViewPr/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ableStyles" Target="tableStyles.xml"/>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BFF"/>
            </a:gs>
            <a:gs pos="100000">
              <a:srgbClr val="ECF3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400" b="1"/>
      </a:lvl1pPr>
    </p:titleStyle>
    <p:bodyStyle>
      <a:lvl1pPr marL="0" indent="0">
        <a:defRPr sz="1800"/>
      </a:lvl1pPr>
      <a:lvl2pPr marL="457200" indent="0">
        <a:defRPr sz="1650"/>
      </a:lvl2pPr>
    </p:bodyStyle>
    <p:otherStyle>
      <a:lvl1pPr marL="0" indent="0">
        <a:defRPr sz="15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.xml"/><Relationship Id="rId3" Type="http://schemas.openxmlformats.org/officeDocument/2006/relationships/slide" Target="slide13.xml"/><Relationship Id="rId4" Type="http://schemas.openxmlformats.org/officeDocument/2006/relationships/slide" Target="slide22.xml"/><Relationship Id="rId5" Type="http://schemas.openxmlformats.org/officeDocument/2006/relationships/slide" Target="slide37.xml"/><Relationship Id="rId6" Type="http://schemas.openxmlformats.org/officeDocument/2006/relationships/slide" Target="slide44.xml"/><Relationship Id="rId7" Type="http://schemas.openxmlformats.org/officeDocument/2006/relationships/slide" Target="slide60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AAOS Persistent Synced Contacts Cache Case Study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Project: zweithreads-case-study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Scope: design and implementation options for durable Bluetooth/USB contacts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Outcome: compare approaches, recommend production path, show code evidence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System inputs and durable cache target</a:t>
            </a:r>
            <a:endParaRPr lang="en-US" sz="1225"/>
          </a:p>
        </p:txBody>
      </p:sp>
      <p:sp>
        <p:nvSpPr>
          <p:cNvPr id="7" name="Footer"/>
          <p:cNvSpPr/>
          <p:nvPr/>
        </p:nvSpPr>
        <p:spPr>
          <a:xfrm>
            <a:off x="457200" y="6464300"/>
            <a:ext cx="860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475569"/>
                </a:solidFill>
                <a:latin typeface="Aptos"/>
              </a:rPr>
              <a:t>Prepared on February 20, 2026</a:t>
            </a:r>
            <a:endParaRPr lang="en-US" sz="1150"/>
          </a:p>
        </p:txBody>
      </p:sp>
      <p:sp>
        <p:nvSpPr>
          <p:cNvPr id="8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1/69</a:t>
            </a:r>
            <a:endParaRPr lang="en-US"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Index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1066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650">
                <a:solidFill>
                  <a:srgbClr val="1E293B"/>
                </a:solidFill>
                <a:latin typeface="Aptos"/>
              </a:rPr>
              <a:t>• Click any card below to jump to the matching appendix section.</a:t>
            </a:r>
            <a:endParaRPr lang="en-US" sz="1650"/>
          </a:p>
        </p:txBody>
      </p:sp>
      <p:sp>
        <p:nvSpPr>
          <p:cNvPr id="5" name="Index Card Plain-English Context"/>
          <p:cNvSpPr/>
          <p:nvPr>
            <a:hlinkClick r:id="rId2" action="ppaction://hlinksldjump"/>
          </p:nvPr>
        </p:nvSpPr>
        <p:spPr>
          <a:xfrm>
            <a:off x="457200" y="2042160"/>
            <a:ext cx="5486400" cy="119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"/>
              </a:spcAft>
            </a:pPr>
            <a:r>
              <a:rPr lang="en-US" sz="1500" b="1" u="sng">
                <a:solidFill>
                  <a:srgbClr val="1D4ED8"/>
                </a:solidFill>
                <a:latin typeface="Aptos"/>
                <a:hlinkClick r:id="rId2" action="ppaction://hlinksldjump"/>
              </a:rPr>
              <a:t>Plain-English Context</a:t>
            </a:r>
            <a:endParaRPr lang="en-US" sz="15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175">
                <a:solidFill>
                  <a:srgbClr val="334155"/>
                </a:solidFill>
                <a:latin typeface="Aptos"/>
              </a:rPr>
              <a:t>Problem framing and user-level explanation</a:t>
            </a:r>
            <a:endParaRPr lang="en-US" sz="1175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u="sng">
                <a:solidFill>
                  <a:srgbClr val="2563EB"/>
                </a:solidFill>
                <a:latin typeface="Aptos"/>
                <a:hlinkClick r:id="rId2" action="ppaction://hlinksldjump"/>
              </a:rPr>
              <a:t>Click to open section</a:t>
            </a:r>
            <a:endParaRPr lang="en-US" sz="1050"/>
          </a:p>
        </p:txBody>
      </p:sp>
      <p:sp>
        <p:nvSpPr>
          <p:cNvPr id="6" name="Index Card Comparison and Decision"/>
          <p:cNvSpPr/>
          <p:nvPr>
            <a:hlinkClick r:id="rId3" action="ppaction://hlinksldjump"/>
          </p:nvPr>
        </p:nvSpPr>
        <p:spPr>
          <a:xfrm>
            <a:off x="6248400" y="2042160"/>
            <a:ext cx="5486400" cy="119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"/>
              </a:spcAft>
            </a:pPr>
            <a:r>
              <a:rPr lang="en-US" sz="1500" b="1" u="sng">
                <a:solidFill>
                  <a:srgbClr val="1D4ED8"/>
                </a:solidFill>
                <a:latin typeface="Aptos"/>
                <a:hlinkClick r:id="rId3" action="ppaction://hlinksldjump"/>
              </a:rPr>
              <a:t>Comparison and Decision</a:t>
            </a:r>
            <a:endParaRPr lang="en-US" sz="15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175">
                <a:solidFill>
                  <a:srgbClr val="334155"/>
                </a:solidFill>
                <a:latin typeface="Aptos"/>
              </a:rPr>
              <a:t>Approach tables and recommendation</a:t>
            </a:r>
            <a:endParaRPr lang="en-US" sz="1175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u="sng">
                <a:solidFill>
                  <a:srgbClr val="2563EB"/>
                </a:solidFill>
                <a:latin typeface="Aptos"/>
                <a:hlinkClick r:id="rId3" action="ppaction://hlinksldjump"/>
              </a:rPr>
              <a:t>Click to open section</a:t>
            </a:r>
            <a:endParaRPr lang="en-US" sz="1050"/>
          </a:p>
        </p:txBody>
      </p:sp>
      <p:sp>
        <p:nvSpPr>
          <p:cNvPr id="7" name="Index Card Implementation Pseudocode"/>
          <p:cNvSpPr/>
          <p:nvPr>
            <a:hlinkClick r:id="rId4" action="ppaction://hlinksldjump"/>
          </p:nvPr>
        </p:nvSpPr>
        <p:spPr>
          <a:xfrm>
            <a:off x="457200" y="3430280"/>
            <a:ext cx="5486400" cy="119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"/>
              </a:spcAft>
            </a:pPr>
            <a:r>
              <a:rPr lang="en-US" sz="1500" b="1" u="sng">
                <a:solidFill>
                  <a:srgbClr val="1D4ED8"/>
                </a:solidFill>
                <a:latin typeface="Aptos"/>
                <a:hlinkClick r:id="rId4" action="ppaction://hlinksldjump"/>
              </a:rPr>
              <a:t>Implementation Pseudocode</a:t>
            </a:r>
            <a:endParaRPr lang="en-US" sz="15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175">
                <a:solidFill>
                  <a:srgbClr val="334155"/>
                </a:solidFill>
                <a:latin typeface="Aptos"/>
              </a:rPr>
              <a:t>Step-by-step design and core flows</a:t>
            </a:r>
            <a:endParaRPr lang="en-US" sz="1175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u="sng">
                <a:solidFill>
                  <a:srgbClr val="2563EB"/>
                </a:solidFill>
                <a:latin typeface="Aptos"/>
                <a:hlinkClick r:id="rId4" action="ppaction://hlinksldjump"/>
              </a:rPr>
              <a:t>Click to open section</a:t>
            </a:r>
            <a:endParaRPr lang="en-US" sz="1050"/>
          </a:p>
        </p:txBody>
      </p:sp>
      <p:sp>
        <p:nvSpPr>
          <p:cNvPr id="8" name="Index Card Security and Reliability"/>
          <p:cNvSpPr/>
          <p:nvPr>
            <a:hlinkClick r:id="rId5" action="ppaction://hlinksldjump"/>
          </p:nvPr>
        </p:nvSpPr>
        <p:spPr>
          <a:xfrm>
            <a:off x="6248400" y="3430280"/>
            <a:ext cx="5486400" cy="119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"/>
              </a:spcAft>
            </a:pPr>
            <a:r>
              <a:rPr lang="en-US" sz="1500" b="1" u="sng">
                <a:solidFill>
                  <a:srgbClr val="1D4ED8"/>
                </a:solidFill>
                <a:latin typeface="Aptos"/>
                <a:hlinkClick r:id="rId5" action="ppaction://hlinksldjump"/>
              </a:rPr>
              <a:t>Security and Reliability</a:t>
            </a:r>
            <a:endParaRPr lang="en-US" sz="15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175">
                <a:solidFill>
                  <a:srgbClr val="334155"/>
                </a:solidFill>
                <a:latin typeface="Aptos"/>
              </a:rPr>
              <a:t>Encryption, threat model, runbook, fallback</a:t>
            </a:r>
            <a:endParaRPr lang="en-US" sz="1175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u="sng">
                <a:solidFill>
                  <a:srgbClr val="2563EB"/>
                </a:solidFill>
                <a:latin typeface="Aptos"/>
                <a:hlinkClick r:id="rId5" action="ppaction://hlinksldjump"/>
              </a:rPr>
              <a:t>Click to open section</a:t>
            </a:r>
            <a:endParaRPr lang="en-US" sz="1050"/>
          </a:p>
        </p:txBody>
      </p:sp>
      <p:sp>
        <p:nvSpPr>
          <p:cNvPr id="9" name="Index Card Testing and Frameworks"/>
          <p:cNvSpPr/>
          <p:nvPr>
            <a:hlinkClick r:id="rId6" action="ppaction://hlinksldjump"/>
          </p:nvPr>
        </p:nvSpPr>
        <p:spPr>
          <a:xfrm>
            <a:off x="457200" y="4818400"/>
            <a:ext cx="5486400" cy="119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"/>
              </a:spcAft>
            </a:pPr>
            <a:r>
              <a:rPr lang="en-US" sz="1500" b="1" u="sng">
                <a:solidFill>
                  <a:srgbClr val="1D4ED8"/>
                </a:solidFill>
                <a:latin typeface="Aptos"/>
                <a:hlinkClick r:id="rId6" action="ppaction://hlinksldjump"/>
              </a:rPr>
              <a:t>Testing and Frameworks</a:t>
            </a:r>
            <a:endParaRPr lang="en-US" sz="15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175">
                <a:solidFill>
                  <a:srgbClr val="334155"/>
                </a:solidFill>
                <a:latin typeface="Aptos"/>
              </a:rPr>
              <a:t>Coverage evidence and stack choices</a:t>
            </a:r>
            <a:endParaRPr lang="en-US" sz="1175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u="sng">
                <a:solidFill>
                  <a:srgbClr val="2563EB"/>
                </a:solidFill>
                <a:latin typeface="Aptos"/>
                <a:hlinkClick r:id="rId6" action="ppaction://hlinksldjump"/>
              </a:rPr>
              <a:t>Click to open section</a:t>
            </a:r>
            <a:endParaRPr lang="en-US" sz="1050"/>
          </a:p>
        </p:txBody>
      </p:sp>
      <p:sp>
        <p:nvSpPr>
          <p:cNvPr id="10" name="Index Card Speaker Notes and References"/>
          <p:cNvSpPr/>
          <p:nvPr>
            <a:hlinkClick r:id="rId7" action="ppaction://hlinksldjump"/>
          </p:nvPr>
        </p:nvSpPr>
        <p:spPr>
          <a:xfrm>
            <a:off x="6248400" y="4818400"/>
            <a:ext cx="5486400" cy="1190000"/>
          </a:xfrm>
          <a:prstGeom prst="rect">
            <a:avLst/>
          </a:prstGeom>
          <a:solidFill>
            <a:srgbClr val="F8FAFC"/>
          </a:solidFill>
          <a:ln w="19050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80"/>
              </a:spcAft>
            </a:pPr>
            <a:r>
              <a:rPr lang="en-US" sz="1500" b="1" u="sng">
                <a:solidFill>
                  <a:srgbClr val="1D4ED8"/>
                </a:solidFill>
                <a:latin typeface="Aptos"/>
                <a:hlinkClick r:id="rId7" action="ppaction://hlinksldjump"/>
              </a:rPr>
              <a:t>Speaker Notes and References</a:t>
            </a:r>
            <a:endParaRPr lang="en-US" sz="15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175">
                <a:solidFill>
                  <a:srgbClr val="334155"/>
                </a:solidFill>
                <a:latin typeface="Aptos"/>
              </a:rPr>
              <a:t>Presentation cues, sources, and final close</a:t>
            </a:r>
            <a:endParaRPr lang="en-US" sz="1175"/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u="sng">
                <a:solidFill>
                  <a:srgbClr val="2563EB"/>
                </a:solidFill>
                <a:latin typeface="Aptos"/>
                <a:hlinkClick r:id="rId7" action="ppaction://hlinksldjump"/>
              </a:rPr>
              <a:t>Click to open section</a:t>
            </a:r>
            <a:endParaRPr lang="en-US" sz="1050"/>
          </a:p>
        </p:txBody>
      </p:sp>
      <p:sp>
        <p:nvSpPr>
          <p:cNvPr id="11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2/69</a:t>
            </a:r>
            <a:endParaRPr lang="en-US" sz="1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Quick Start (Plain English)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This deck is about one simple problem: saved phone contacts disappear too easily.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Today, contacts are often kept only in temporary memory.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If the car restarts or the phone disconnects, users wait for contacts again.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Our goal is to keep contacts ready so the UI opens fast every time.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Think of it as moving from sticky notes to a proper filing cabinet.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3/69</a:t>
            </a:r>
            <a:endParaRPr lang="en-US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Why This Matters to Drivers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Calling a contact should feel instant, not delayed by another sync.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Frequent re-sync can feel unreliable during short trips.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A stable cache means fewer surprises after reboot or reconnect.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Better reliability also reduces unnecessary Bluetooth/USB traffic.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Simple user expectation: 'my contacts should still be there.'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User-visible pain comes from volatile in-memory state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4/69</a:t>
            </a:r>
            <a:endParaRPr lang="en-US" sz="1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Current Flow (Today)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1. Phone connects and sends contacts to the head unit.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2. Contacts are available while process and session stay alive.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3. Reboot/disconnect/process death clears that temporary state.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4. System must fetch everything again on the next session.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Result: slow restart and repeated network/sync work.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Current path is fragile across restarts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5/69</a:t>
            </a:r>
            <a:endParaRPr lang="en-US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Desired Flow (After Fix)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1. Phone sync still happens, but data is also stored durably.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2. On reboot, the system loads cached contacts immediately.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3. Next sync sends only changes, not the full dataset each time.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4. Users get fast contact access even before full background sync.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Result: smoother UX, less repeated work, stronger reliability.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Durable cache keeps contacts ready between sessions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6/69</a:t>
            </a:r>
            <a:endParaRPr lang="en-US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Decision in One Slide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We evaluated three storage options: SQLite, JSON files, event log.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SQLite gives the best balance for speed, safety, and maintainability.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JSON is simple but slows down and rewrites too much at scale.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Event log is great for audit history but adds read complexity.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So the recommendation is SQLite + WAL + sync metadata.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SQLite is the best practical fit for production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7/69</a:t>
            </a:r>
            <a:endParaRPr lang="en-US" sz="1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Simple Terms Used in This Deck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Cache: saved copy of contacts used for fast reads.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Full sync: complete contact list from the phone.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Delta sync: only what changed since last sync.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WAL (Write-Ahead Logging): SQLite mode for safe concurrent reads/writes.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Soft delete: mark removed first, physically purge later.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8/69</a:t>
            </a:r>
            <a:endParaRPr lang="en-US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Presentation Roadmap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0. Quick plain-English walkthrough (new)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1. Problem and system constraints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2. Approach comparison with pros and cons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3. My step-by-step recommended implementation (new)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4. Deep dive on SQLite + WAL architecture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5. Security hardening (encryption/decryption) and framework details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6. Code snippets, testing, rollout, and references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9/69</a:t>
            </a:r>
            <a:endParaRPr lang="en-US" sz="1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Problem Context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Current AAOS flow keeps synced contacts only in memory.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On reboot/process death/disconnect, contact state is lost.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Users see cold-start delays because full re-sync is required.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Repeated sync traffic adds avoidable load and battery impact.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Goal: make contacts instantly available after restart while staying correct.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Volatile state creates restart and reliability pain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10/69</a:t>
            </a:r>
            <a:endParaRPr lang="en-US" sz="1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Objectives and Constraints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Persist contacts across reboot and temporary phone disconnects.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Serve list/search quickly without mandatory online sync.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Support full and delta sync while preventing stale updates.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Handle multi-device pairing safely with source isolation.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Enforce privacy and UID-based access control in provider layer.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Keep migration safe for existing users during platform upgrades.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11/69</a:t>
            </a:r>
            <a:endParaRPr lang="en-US" sz="11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Assumptions and Non-Goals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Assumption: PBAP/USB adapters provide stable contact IDs eventually.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Assumption: device policy allows Keystore-backed app-layer encryption.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Assumption: intermittent source disconnects are expected and recoverable.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Non-goal: change upstream phone contact-authoritative semantics.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Non-goal: implement cloud merge/conflict engine in this cache layer.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12/69</a:t>
            </a:r>
            <a:endParaRPr lang="en-US" sz="1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Approaches Compared (High Level)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Approach 1 (SQLite + WAL + sync metadata): best fit for AAOS provider patterns.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Approach 2 (JSON snapshot files): simple implementation but weak scalability.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Approach 3 (append-only event log): strong audit trail but costly read path.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Recommendation: Approach 1 for production vehicle deployments.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Tradeoff accepted: higher schema/migration work in exchange for reliability and speed.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13/69</a:t>
            </a:r>
            <a:endParaRPr lang="en-US" sz="11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Pros vs Cons Table: Previous vs Current Approach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00">
                <a:solidFill>
                  <a:srgbClr val="1E293B"/>
                </a:solidFill>
                <a:latin typeface="Aptos"/>
              </a:rPr>
              <a:t>• I use this as a quick side-by-side summary during discussion.</a:t>
            </a:r>
            <a:endParaRPr lang="en-US" sz="1700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00">
                <a:solidFill>
                  <a:srgbClr val="1E293B"/>
                </a:solidFill>
                <a:latin typeface="Aptos"/>
              </a:rPr>
              <a:t>• Previous here means volatile/full-sync-heavy behavior before durable cache.</a:t>
            </a:r>
            <a:endParaRPr lang="en-US" sz="1700"/>
          </a:p>
        </p:txBody>
      </p:sp>
      <p:graphicFrame>
        <p:nvGraphicFramePr>
          <p:cNvPr id="5" name="Data Table"/>
          <p:cNvGraphicFramePr>
            <a:graphicFrameLocks noGrp="1"/>
          </p:cNvGraphicFramePr>
          <p:nvPr/>
        </p:nvGraphicFramePr>
        <p:xfrm>
          <a:off x="457200" y="2194560"/>
          <a:ext cx="1127760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00"/>
                <a:gridCol w="4653800"/>
                <a:gridCol w="4653800"/>
              </a:tblGrid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Area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Previous Approach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Current Approach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Startup UX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Slow after reboot/disconnect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Fast cached load before sync catch-up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Consistency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State can be lost after process reset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Durable transactional state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Sync Cost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Frequent full sync and higher traffic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Delta-first updates, less repeated traffic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Read Speed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No indexed durable query path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Indexed, predictable read latency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Security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Basic controls only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UID ACL + AES-GCM + key rotation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Operations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Lower recovery confidence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Versioned migration + clear fallback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Main Pro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Simple initial implementation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Reliable production behavior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433493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Main Con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Unreliable restart experience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More upfront engineering effort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14/69</a:t>
            </a:r>
            <a:endParaRPr lang="en-US" sz="11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Pros vs Cons Table: Three Approaches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00">
                <a:solidFill>
                  <a:srgbClr val="1E293B"/>
                </a:solidFill>
                <a:latin typeface="Aptos"/>
              </a:rPr>
              <a:t>• I keep a single table view so tradeoffs are easy to discuss quickly.</a:t>
            </a:r>
            <a:endParaRPr lang="en-US" sz="1700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00">
                <a:solidFill>
                  <a:srgbClr val="1E293B"/>
                </a:solidFill>
                <a:latin typeface="Aptos"/>
              </a:rPr>
              <a:t>• This makes decision rationale clear for both technical and non-technical reviewers.</a:t>
            </a:r>
            <a:endParaRPr lang="en-US" sz="1700"/>
          </a:p>
        </p:txBody>
      </p:sp>
      <p:graphicFrame>
        <p:nvGraphicFramePr>
          <p:cNvPr id="5" name="Data Table"/>
          <p:cNvGraphicFramePr>
            <a:graphicFrameLocks noGrp="1"/>
          </p:cNvGraphicFramePr>
          <p:nvPr/>
        </p:nvGraphicFramePr>
        <p:xfrm>
          <a:off x="457200" y="2194560"/>
          <a:ext cx="1127760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000"/>
                <a:gridCol w="3225000"/>
                <a:gridCol w="3225000"/>
                <a:gridCol w="2807600"/>
              </a:tblGrid>
              <a:tr h="975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Approach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Key Pros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Key Cons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100" b="1">
                          <a:solidFill>
                            <a:srgbClr val="0F172A"/>
                          </a:solidFill>
                          <a:latin typeface="Aptos"/>
                        </a:rPr>
                        <a:t>Best Fit</a:t>
                      </a:r>
                      <a:endParaRPr lang="en-US" sz="1100"/>
                    </a:p>
                  </a:txBody>
                  <a:tcPr marL="45720" marR="45720" marT="22860" marB="22860">
                    <a:solidFill>
                      <a:srgbClr val="DBEAFE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975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Approach 1: SQLite + WAL + metadata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Fast indexed reads; strong transactions; migration friendly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Higher upfront schema and migration complexity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Production AAOS persistent contacts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975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Approach 2: JSON snapshot files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Lowest initial complexity; easy manual inspection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Full rewrites; weak query model; no robust transactions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Prototype or very small datasets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  <a:tr h="9753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 b="1">
                          <a:solidFill>
                            <a:srgbClr val="0F172A"/>
                          </a:solidFill>
                          <a:latin typeface="Aptos"/>
                        </a:rPr>
                        <a:t>Approach 3: Append-only event log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8FAFC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Strong auditability; durable append behavior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Replay/compaction overhead; slower read path at scale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30"/>
                        </a:spcAft>
                      </a:pPr>
                      <a:r>
                        <a:rPr lang="en-US" sz="1060">
                          <a:solidFill>
                            <a:srgbClr val="1E293B"/>
                          </a:solidFill>
                          <a:latin typeface="Aptos"/>
                        </a:rPr>
                        <a:t>Audit-first, analytics-heavy systems</a:t>
                      </a:r>
                      <a:endParaRPr lang="en-US" sz="1060"/>
                    </a:p>
                  </a:txBody>
                  <a:tcPr marL="45720" marR="45720" marT="22860" marB="22860">
                    <a:solidFill>
                      <a:srgbClr val="FFFFFF"/>
                    </a:solidFill>
                    <a:lnL w="9525">
                      <a:solidFill>
                        <a:srgbClr val="CBD5E1"/>
                      </a:solidFill>
                    </a:lnL>
                    <a:lnR w="9525">
                      <a:solidFill>
                        <a:srgbClr val="CBD5E1"/>
                      </a:solidFill>
                    </a:lnR>
                    <a:lnT w="9525">
                      <a:solidFill>
                        <a:srgbClr val="CBD5E1"/>
                      </a:solidFill>
                    </a:lnT>
                    <a:lnB w="9525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15/69</a:t>
            </a:r>
            <a:endParaRPr lang="en-US" sz="11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Approach 2: JSON Snapshot Cache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Storage model: one full JSON file per source device.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Pros: smallest code surface, easy to inspect manually.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Cons: every sync rewrites full payload, no transactional guarantees.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Cons: read/search requires file parsing instead of indexed lookup.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Verdict: useful for prototype demos only, not production AAOS.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Snippet: approaches/02_json_snapshot_cache/.../JsonSnapshotCache.java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public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writeSnapshot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sourceDevice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Map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contacts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throws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IOException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Files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createDirectories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rootDir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Path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out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rootDir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resolve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safeName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sourceDevice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+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".json"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i="1">
                <a:solidFill>
                  <a:srgbClr val="94A3B8"/>
                </a:solidFill>
                <a:latin typeface="Cascadia Code"/>
              </a:rPr>
              <a:t xml:space="preserve">// builds entire JSON payload in-memory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Files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writeString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out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json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toString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StandardCharsets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UTF_8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16/69</a:t>
            </a:r>
            <a:endParaRPr lang="en-US" sz="11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Approach 3: Append-Only Event Log Cache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Storage model: append upsert/delete events in NDJSON stream.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Pros: excellent auditability and sequential durable writes.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Cons: query path depends on replay or compaction strategy.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Cons: operational complexity rises with log growth.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Verdict: niche choice for audit-first systems, not default AAOS path.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Snippet: approaches/03_event_log_cache/.../EventLogCache.java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private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appendEvent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sourceDevice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type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externalContactId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payloadJson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throws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IOException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Files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createDirectories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rootDir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Path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file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rootDir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resolve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safeName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sourceDevice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+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".events.ndjson"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Files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writeString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file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event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StandardCharsets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UTF_8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CREATE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APPEND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17/69</a:t>
            </a:r>
            <a:endParaRPr lang="en-US" sz="11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Why Approach 1 Is Recommended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I get fast indexed reads for contact list/search/autocomplete.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I can keep sync atomic using one transaction per batch.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WAL lets my reads stay responsive while writes are active.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SQLiteOpenHelper gives me a clean migration path by DB version.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This model aligns well with existing AAOS provider patterns.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The tradeoff I accept is higher upfront schema design effort.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Approach 1 balances performance, correctness, and fit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18/69</a:t>
            </a:r>
            <a:endParaRPr lang="en-US" sz="11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My Recommended Approach: Step-by-Step Plan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I break delivery into small steps so implementation stays predictable.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Step 1: initialize SQLite DB with WAL + safe pragmas.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Step 2: create contact/sync tables and indexes.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Step 3: normalize input from PBAP/USB adapters.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Step 4: implement full sync, then delta sync.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Step 5+: add stale guards, APIs, security, retention, migration.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My implementation plan from setup to rollout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19/69</a:t>
            </a:r>
            <a:endParaRPr lang="en-US" sz="11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Data Lifecycle (End to End)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Ingest: receive contacts from PBAP/USB adapter.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Normalize: sanitize fields, dedupe records, validate payload.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Protect: encrypt sensitive JSON fields before persistence.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Persist: upsert/delete in transaction and update sync state.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Serve + retain: query active rows fast and purge old tombstones.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Lifecycle pseudocode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RawContact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batch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normalizeAndDedupe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encryptSensitiveFields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inTransaction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applyFullOrDeltaSync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updateSyncState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queryActiveForUI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runRetentionJob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20/69</a:t>
            </a:r>
            <a:endParaRPr lang="en-US" sz="11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API Contract (Sync Input/Output + Error Codes)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request/response contracts explicit so adapters and store stay decoupled.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return stable counters and sync token for resumable sync.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 explicit error codes for retry/fallback behavior.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request/response contract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final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class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SyncRequest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sourceDevice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boolean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fullSnapshot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long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sourceSequence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syncToken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RawContact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contacts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deletedIds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final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class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SyncResponse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int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inserted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updated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deleted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staleIgnored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nextSyncToken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ErrorCode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error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21/69</a:t>
            </a:r>
            <a:endParaRPr lang="en-US" sz="11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Step 1: I Initialize the Database Layer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start by creating a dedicated SQLiteOpenHelper for cache storage.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enable WAL early so read queries stay fast during sync writes.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set safe pragmas once, then keep all writes inside transactions.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This gives me a solid base before I add sync logic.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DB bootstrap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final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class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ContactsCacheDb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extends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SQLiteOpenHelper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F0ABFC"/>
                </a:solidFill>
                <a:latin typeface="Cascadia Code"/>
              </a:rPr>
              <a:t xml:space="preserve">@Override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public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onConfigure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SQLiteDatabase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enableWriteAheadLogging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execSQL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"PRAGMA foreign_keys=ON"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execSQL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"PRAGMA synchronous=NORMAL"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F0ABFC"/>
                </a:solidFill>
                <a:latin typeface="Cascadia Code"/>
              </a:rPr>
              <a:t xml:space="preserve">@Override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public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onCreate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SQLiteDatabase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createContactsTable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createSyncStateTable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createIndexes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22/69</a:t>
            </a:r>
            <a:endParaRPr lang="en-US" sz="11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Step 2: I Create Schema and Indexes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one row per (source_device, external_contact_id).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store metadata needed for conflict checks and sync resume.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sensitive fields encrypted at rest with per-row IV + key_version.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create indexes for list/read, retention scans, and version guards.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delete as a soft flag so recovery is safer.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tables + indexes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CREATE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TABLE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synced_contacts_cache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source_device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TEXT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NULL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external_contact_id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TEXT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NULL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display_name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TEXT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NULL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phones_json_enc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NULL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emails_json_enc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NULL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iv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NULL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key_version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INTEGER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NULL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source_version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INTEGER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NULL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local_updated_ms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INTEGER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NULL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deleted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INTEGER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NULL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DEFAULT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FDBA74"/>
                </a:solidFill>
                <a:latin typeface="Cascadia Code"/>
              </a:rPr>
              <a:t xml:space="preserve">0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PRIMARY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source_device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external_contact_id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CREATE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INDEX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idx_cache_query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synced_contacts_cache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source_device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deleted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display_name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CREATE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INDEX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idx_cache_retention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synced_contacts_cache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source_device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local_updated_ms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23/69</a:t>
            </a:r>
            <a:endParaRPr lang="en-US" sz="11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Step 3: I Normalize Input Before Writing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normalize incoming records before touching the database.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trim names, sanitize phones, and dedupe by stable keys.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reject obviously bad records early and log only safe metadata.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This keeps persistence clean and predictable.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normalize + dedupe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NormalizedContact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normalizeAll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RawContact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incoming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Map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NormalizedContact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unique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LinkedHashMap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for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RawContact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raw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: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incoming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!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isValid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raw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continue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NormalizedContact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Normalizer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normalize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raw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</a:t>
            </a:r>
            <a:r>
              <a:rPr lang="en-US" sz="1200" i="1">
                <a:solidFill>
                  <a:srgbClr val="94A3B8"/>
                </a:solidFill>
                <a:latin typeface="Cascadia Code"/>
              </a:rPr>
              <a:t xml:space="preserve">// trim, sanitize, map fields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unique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put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externalContactId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      </a:t>
            </a:r>
            <a:r>
              <a:rPr lang="en-US" sz="1200" i="1">
                <a:solidFill>
                  <a:srgbClr val="94A3B8"/>
                </a:solidFill>
                <a:latin typeface="Cascadia Code"/>
              </a:rPr>
              <a:t xml:space="preserve">// dedupe by source ID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ArrayList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unique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values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24/69</a:t>
            </a:r>
            <a:endParaRPr lang="en-US" sz="11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Step 4: I Run Full Sync in One Transaction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For full sync, I upsert all live contacts from the source snapshot.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After upserts, I soft-delete rows missing from the live ID set.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commit sync_state and data together so they never drift apart.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If anything fails, I roll back the whole batch.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full sync flow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applyFullSync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NormalizedContact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inTransaction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Set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liveIds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HashSet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for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NormalizedContact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: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upsertWithStaleGuard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liveIds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add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externalContactId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markMissingDeleted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liveIds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nowMs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upsertSyncState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syncToken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sequence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nowMs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success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25/69</a:t>
            </a:r>
            <a:endParaRPr lang="en-US" sz="11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Step 5: I Apply Delta Sync Safely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For delta sync, I apply only changed/new/deleted records.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never do mass delete on partial payloads from the source.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still use one transaction so updates stay atomic.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update sync_state only after row-level operations succeed.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delta sync flow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applyDeltaSync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DeltaPayload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delta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inTransaction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for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NormalizedContact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: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delta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upserts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upsertWithStaleGuard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for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: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delta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deletedIds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softDelete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nowMs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upsertSyncState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syncToken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sequence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nowMs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success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26/69</a:t>
            </a:r>
            <a:endParaRPr lang="en-US" sz="11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Step 6: I Block Stale or Out-of-Order Updates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reject updates with lower source_version than stored rows.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For equal version, I compare source_last_modified_ms.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also block sequence rollback unless explicit recovery mode is 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This prevents late packets from corrupting fresh cache data.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stale + sequence guards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boolean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isStale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ContactPayload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StoredRow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old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sourceVersion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old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sourceVersion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FCA5A5"/>
                </a:solidFill>
                <a:latin typeface="Cascadia Code"/>
              </a:rPr>
              <a:t xml:space="preserve">true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sourceVersion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old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sourceVersion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&amp;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&amp;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sourceLastModifiedMs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old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sourceLastModifiedMs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FCA5A5"/>
                </a:solidFill>
                <a:latin typeface="Cascadia Code"/>
              </a:rPr>
              <a:t xml:space="preserve">true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FCA5A5"/>
                </a:solidFill>
                <a:latin typeface="Cascadia Code"/>
              </a:rPr>
              <a:t xml:space="preserve">false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assertSequence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long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incoming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long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lastSeen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boolean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allowRecovery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!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allowRecovery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&amp;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&amp;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incoming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lastSeen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throw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SequenceRegressionException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27/69</a:t>
            </a:r>
            <a:endParaRPr lang="en-US" sz="11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Step 7: I Expose Fast Read APIs for UI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query only active rows (`deleted=0`) for normal contact views.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reads source-aware so paired devices stay isolated.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 prefix search to support fast dialer lookup.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return stable DTOs so UI code stays simple.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list + search read path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ContactView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listActive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int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limit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query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"source_device=? AND deleted=0"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[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]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"display_name COLLATE NOCASE ASC"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limit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ContactView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searchByPrefix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q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query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"source_device=? AND deleted=0 AND display_name LIKE ?"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q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+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"%"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28/69</a:t>
            </a:r>
            <a:endParaRPr lang="en-US" sz="11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Step 8: I Enforce Access + Protect PII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check calling UID before allowing read/write entrypoints.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allowlists separate for read and write policies.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redact phone/email values in logs and metrics.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treat this as mandatory, not optional hardening.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provider security gate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enforceReadAccess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int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uid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Binder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getCallingUid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!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allowedReadUids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contains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uid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throw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SecurityException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"read not allowed"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redactPhone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phone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phone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length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FDBA74"/>
                </a:solidFill>
                <a:latin typeface="Cascadia Code"/>
              </a:rPr>
              <a:t xml:space="preserve">4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?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"****"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: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"******"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+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phone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substring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phone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length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FDBA74"/>
                </a:solidFill>
                <a:latin typeface="Cascadia Code"/>
              </a:rPr>
              <a:t xml:space="preserve">4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29/69</a:t>
            </a:r>
            <a:endParaRPr lang="en-US" sz="115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Step 9: I Add Retention + Recovery Jobs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purge old soft-deleted rows with a background retention job.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run integrity checks and rebuild cache if corruption is detected.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On recovery, I clear cache tables and trigger one fresh full sync.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This keeps long-term storage healthy without user-visible failures.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retention + corruption recovery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runRetention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long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keepMs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long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cutoff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nowMs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keepMs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execSQL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"DELETE FROM synced_contacts_cache WHERE source_device=? AND deleted=1 AND local_updated_ms&lt;?"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Object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[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]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cutoff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recoverFromCorruption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clearSourceRows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clearSyncState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scheduleImmediateFullSync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30/69</a:t>
            </a:r>
            <a:endParaRPr lang="en-US" sz="11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Step 10: I Roll Out with Feature Flags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ship the new cache behind a runtime feature flag first.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compare metrics against legacy flow before default enablement.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fallback path for one release cycle for safe rollback.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After stability proof, I switch the default to the new path.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rollout gate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ContactsResult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getContacts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Flags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persistentContactsCacheEnabled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cacheProvider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listActive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legacySessionStore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read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onCacheFailure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Exception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Metrics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recordCacheFailure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getClass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getSimpleName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Flags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temporarilyDisablePersistentCache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31/69</a:t>
            </a:r>
            <a:endParaRPr lang="en-US" sz="115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Complete Orchestrator Pseudocode (My End-to-End Flow)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This is the high-level function I follow for each incoming sync batch.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validation, transaction, metrics, and error handling in one place.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This makes production behavior predictable and easy to debug.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one sync entrypoint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handleIncomingSync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enforceWriteAccess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assertSequence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sequence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readLastSequence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allowRecovery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List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NormalizedContact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normalizeAll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contacts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SyncResult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isFullSnapshot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?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applyFullSync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: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applyDeltaSync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delta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meta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Metrics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recordSyncResult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stats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isCorruption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recoverFromCorruption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result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32/69</a:t>
            </a:r>
            <a:endParaRPr lang="en-US" sz="11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My Recommended Architecture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normalize incoming contacts from PBAP/USB adapters first.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 ContactSyncEngine to apply full or delta rules.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isolate durable writes inside ContactsCacheStore.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encrypt sensitive fields via a crypto service before persistence.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persist contacts plus per-device sync_state metadata in SQLite.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decrypt only when needed on read path for authorized callers.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serve UI from indexed active rows (`deleted=0`).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clean old tombstones asynchronously with a retention worker.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My architecture flow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PBAP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/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USB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adapters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ContactSyncEngine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normalize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dedupe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sequence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checks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ContactsCacheStore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transaction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ContactsCryptoService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encrypt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/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decrypt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via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Keystore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synced_contacts_cache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table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synced_contacts_sync_state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table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Provider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query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APIs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indexed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reads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for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UI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Retention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job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purge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tombstones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after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retention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window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33/69</a:t>
            </a:r>
            <a:endParaRPr lang="en-US" sz="115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My Data Model and Index Design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 (source_device, external_contact_id) as the primary key.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store display fields plus encrypted phone/email payload columns.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persist IV and key_version to support safe decrypt + rotation.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last_full_sync_ms, sync token, sequence, and schema in sync_state.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index (source_device, deleted, display_name) for read speed.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index (source_device, local_updated_ms) for retention cleanup.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index source version columns for stale-update protection.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Snippet: approaches/01_sqlite_wal_cache/.../ContactsCacheDatabaseHelper.java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F0ABFC"/>
                </a:solidFill>
                <a:latin typeface="Cascadia Code"/>
              </a:rPr>
              <a:t xml:space="preserve">@Override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public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onConfigure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SQLiteDatabase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setForeignKeyConstraintsEnabled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 b="1">
                <a:solidFill>
                  <a:srgbClr val="FCA5A5"/>
                </a:solidFill>
                <a:latin typeface="Cascadia Code"/>
              </a:rPr>
              <a:t xml:space="preserve">true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enableWriteAheadLogging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execSQL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"PRAGMA synchronous=NORMAL"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34/69</a:t>
            </a:r>
            <a:endParaRPr lang="en-US" sz="11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My Sync Lifecycle: Full, Delta, and Sequence Safety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For full sync, I dedupe, upsert all rows, then mark missing as deleted.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For delta sync, I apply only changed/new rows plus explicit deletions.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treat source_version as authority and ignore stale payloads.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reject sequence regression unless recovery mode is explicitly enabled.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record inserted/updated/deleted/stale/invalidDropped metrics every run.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Snippet: approaches/01_sqlite_wal_cache/.../ContactSyncEngine.java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resolvedMetadata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isCompleteSnapshot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deleted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markMissingDeleted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normalizedSource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liveIds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nowMs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upsertSyncState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normalizedSource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nowMs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resolvedMetadata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getSyncToken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resolvedMetadata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getSourceSyncSequence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CACHE_SCHEMA_VERSION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35/69</a:t>
            </a:r>
            <a:endParaRPr lang="en-US" sz="115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How I Block Stale Updates in Store Layer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reject outdated payloads before any durable write happens.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If version is equal, I still reject older source timestamps.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This stops late/out-of-order packets from corrupting fresh data.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expose STALE_IGNORED in sync summary metrics for visibility.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Snippet: approaches/01_sqlite_wal_cache/.../SqliteContactsCacheStore.java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getSourceVersion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existing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UpsertOutcome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STALE_IGNORED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getSourceVersion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existing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sourceVersion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&amp;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&amp;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getSourceLastModifiedMs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&lt;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existing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sourceLastModifiedMs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UpsertOutcome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STALE_IGNORED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36/69</a:t>
            </a:r>
            <a:endParaRPr lang="en-US" sz="115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My Security and Privacy Controls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enforce UID and permission checks at provider entrypoints.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separate allowlists for read and write by policy.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encrypt sensitive payload fields before writing to SQLite.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 AES-GCM with random IV and AAD tied to source/contact IDs.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never log raw phone/email values in metrics or logs.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combine FBE + app-layer crypto + key rotation for defense-in-depth.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Snippet: access gate + encrypted write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public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enforceReadAccess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int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uid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callingUidProvider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getCallingUid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!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allowedReadUids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contains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uid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throw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SecurityException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"UID not authorized to read cache"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EncryptedBlob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phonesEnc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crypto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encryptJson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contactId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phonesJson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redacted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PiiRedaction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redactPhone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"+1 555-0102"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i="1">
                <a:solidFill>
                  <a:srgbClr val="94A3B8"/>
                </a:solidFill>
                <a:latin typeface="Cascadia Code"/>
              </a:rPr>
              <a:t xml:space="preserve">// ******0102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37/69</a:t>
            </a:r>
            <a:endParaRPr lang="en-US" sz="115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My Encryption Strategy (Layered Security)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Layer 1: File-based encryption (FBE) protects userdata at rest.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Layer 2: I encrypt high-risk contact fields at application layer.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Layer 3: UID/permission checks protect provider access.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Layer 4: I redact logs/metrics and monitor failures.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Layer 5: I rotate keys and support controlled re-encryption.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I combine platform and app-layer controls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38/69</a:t>
            </a:r>
            <a:endParaRPr lang="en-US" sz="115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Security Step A: I Manage Keys with Android Keystore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generate and store AES keys in Android Keystore.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keys non-exportable and reference them by alias/version.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bind encryption policy once (AES/GCM/NoPadding, 256-bit).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treat key creation and lookup as one reusable service.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key manager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SecretKey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getOrCreateKey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alias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KeyStore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KeyStore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getInstance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"AndroidKeyStore"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 b="1">
                <a:solidFill>
                  <a:srgbClr val="FCA5A5"/>
                </a:solidFill>
                <a:latin typeface="Cascadia Code"/>
              </a:rPr>
              <a:t xml:space="preserve">null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!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containsAlias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alias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KeyGenParameterSpec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spec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aesGcmSpec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alias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FDBA74"/>
                </a:solidFill>
                <a:latin typeface="Cascadia Code"/>
              </a:rPr>
              <a:t xml:space="preserve">256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KeyGenerator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KeyGenerator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getInstance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"AES"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"AndroidKeyStore"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init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spec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generateKey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KeyStore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SecretKeyEntry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getEntry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alias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FCA5A5"/>
                </a:solidFill>
                <a:latin typeface="Cascadia Code"/>
              </a:rPr>
              <a:t xml:space="preserve">null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getSecretKey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39/69</a:t>
            </a:r>
            <a:endParaRPr lang="en-US" sz="115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Security Step B: I Encrypt Before Database Write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encrypt phones/emails JSON payloads before insert/update.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generate a new random IV for each encrypted record.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 AAD (`source|contactId`) so row swaps fail authentication.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store ciphertext + IV + key_version with each row.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encrypt on write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EncryptedBlob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encryptJson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contactId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plainJson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SecretKey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int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Cipher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Cipher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getInstance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"AES/GCM/NoPadding"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byte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[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]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iv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SecureRandomHolder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nextBytes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FDBA74"/>
                </a:solidFill>
                <a:latin typeface="Cascadia Code"/>
              </a:rPr>
              <a:t xml:space="preserve">12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init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Cipher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ENCRYPT_MODE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GCMParameterSpec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FDBA74"/>
                </a:solidFill>
                <a:latin typeface="Cascadia Code"/>
              </a:rPr>
              <a:t xml:space="preserve">128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iv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updateAAD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+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"|"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+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contactId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getBytes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StandardCharsets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UTF_8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byte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[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]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ciphertext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doFinal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plainJson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getBytes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StandardCharsets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UTF_8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EncryptedBlob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base64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ciphertext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base64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iv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40/69</a:t>
            </a:r>
            <a:endParaRPr lang="en-US" sz="115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Security Step C: I Decrypt Safely on Read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fetch key by `key_version`, then decrypt with stored IV.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 the same AAD tuple (`source|contactId`) on decrypt.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If tag verification fails, I treat it as tamper/corruption signal.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fail closed for that row and trigger recovery path if needed.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decrypt on read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decryptJson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contactId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EncryptedBlob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SecretKey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Cipher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Cipher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getInstance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"AES/GCM/NoPadding"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init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Cipher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DECRYPT_MODE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GCMParameterSpec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FDBA74"/>
                </a:solidFill>
                <a:latin typeface="Cascadia Code"/>
              </a:rPr>
              <a:t xml:space="preserve">128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base64Decode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iv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updateAAD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+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"|"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+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contactId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getBytes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StandardCharsets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UTF_8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try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byte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[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]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plain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doFinal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base64Decode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ciphertext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plain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StandardCharsets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UTF_8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catch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AEADBadTagException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throw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new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SecurityException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"Ciphertext authentication failed"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41/69</a:t>
            </a:r>
            <a:endParaRPr lang="en-US" sz="115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Security Step D: I Rotate Keys and Re-Encrypt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rotate active encryption keys on policy interval (for example 90 days).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create new key alias/version, then re-encrypt rows in batches.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old key only until migration is complete and verified.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After successful migration, I retire old alias safely.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key rotation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void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rotateKeyIfNeeded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if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!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rotationPolicy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isDue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nowMs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return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KeyRef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keyManager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createNextVersion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for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: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readRowsByKeyVersion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keyManager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currentVersion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plain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crypto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decryptJson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contactId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phonesEnc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keyManager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currentKey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EncryptedBlob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reenc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crypto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encryptJson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contactId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plain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key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updateEncryptedPayload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source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row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contactId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reenc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keyManager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promote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next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42/69</a:t>
            </a:r>
            <a:endParaRPr lang="en-US" sz="115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My Performance and Reliability Strategy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 WAL so reads stay responsive during write-heavy sync.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 one transaction per batch to avoid partial commits.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soft-delete first and purge later for safer recovery.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block mass delete behavior for partial source snapshots.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apply quotas and normalization to contain bad payloads.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include corruption recovery to reset and trigger full sync.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43/69</a:t>
            </a:r>
            <a:endParaRPr lang="en-US" sz="115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How I Validate This in Tests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run JVM tests for core sync logic without Android runtime.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run integration tests for real SQLite behavior on Android.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cover reopen persistence, delta conflicts, and sequence regressions.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verify v1-&gt;v2 migration creates indexes and keeps WAL enabled.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test access enforcement for both allow and deny paths.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Snippet: instrumentation migration validation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 b="1">
                <a:solidFill>
                  <a:srgbClr val="93C5FD"/>
                </a:solidFill>
                <a:latin typeface="Cascadia Code"/>
              </a:rPr>
              <a:t xml:space="preserve">try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Cursor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cursor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rawQuery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"PRAGMA journal_mode"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 b="1">
                <a:solidFill>
                  <a:srgbClr val="FCA5A5"/>
                </a:solidFill>
                <a:latin typeface="Cascadia Code"/>
              </a:rPr>
              <a:t xml:space="preserve">null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assertTrue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cursor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moveToFirst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mode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=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cursor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getString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FDBA74"/>
                </a:solidFill>
                <a:latin typeface="Cascadia Code"/>
              </a:rPr>
              <a:t xml:space="preserve">0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assertEquals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"wal"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mode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toLowerCase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assertTrue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hasIndex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db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,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ContactsCacheContract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INDEX_SOURCE_VERSION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;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44/69</a:t>
            </a:r>
            <a:endParaRPr lang="en-US" sz="115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Threat Model and Mitigations (1:1)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Unauthorized provider read -&gt; UID allowlist + permission enforcement.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Stale/out-of-order packet -&gt; version and sequence guard checks.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Ciphertext tampering -&gt; AES-GCM authentication tag verification.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PII leak in logs -&gt; strict redaction policy in telemetry/logging.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DB corruption -&gt; fail-safe recovery (clear cache + full sync).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45/69</a:t>
            </a:r>
            <a:endParaRPr lang="en-US" sz="115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Failure Scenarios and Fallback Behavior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Sequence regression -&gt; reject batch and request source recovery/full sync.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AEAD decrypt failure -&gt; fail closed for row and schedule recovery.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Migration failure -&gt; keep legacy path enabled, retry on next boot.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Transaction failure -&gt; rollback full batch and keep last consistent state.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Health gate breach -&gt; auto-disable feature flag and fallback.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46/69</a:t>
            </a:r>
            <a:endParaRPr lang="en-US" sz="11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Operational Runbook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1. Check health metrics: sync success, stale drops, decrypt failures, migration errors.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2. Identify impacted source_device(s) and inspect redacted logs.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3. Validate key alias/version presence and decrypt test for sampled row.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4. Trigger controlled full sync if sequence/token state looks inconsistent.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5. If error budget breached, disable flag and route to legacy path.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47/69</a:t>
            </a:r>
            <a:endParaRPr lang="en-US" sz="115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Before vs After Metrics (Target)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Cold-start load p95: 2500-4000 ms -&gt; &lt;= 400 ms.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Repeated full-sync frequency: reduced by &gt;= 60%.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Sync success rate: target &gt;= 99.5%.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Stale overwrite incidents: target 0 by guard design.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Corruption recovery: automated within next sync cycle.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Operational targets for production readiness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48/69</a:t>
            </a:r>
            <a:endParaRPr lang="en-US" sz="115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Cost and Effort Estimate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Core implementation + integration: 4-6 engineer weeks.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Security hardening and validation: 1-2 engineer weeks.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Test expansion and migration regression matrix: 2-3 engineer weeks.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Rollout and observability tuning: 1-2 engineer weeks.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Overall: 8-13 weeks depending on integration and OEM dependencies.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49/69</a:t>
            </a:r>
            <a:endParaRPr lang="en-US" sz="115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Test Coverage Matrix (Requirement -&gt; Evidence)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Persistence after reopen -&gt; fullSync_persistsAcrossDatabaseReopen.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Delta correctness -&gt; deltaSync_updatesAndDeletesCorrectRows.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Partial snapshot safety -&gt; fullSync_partialSnapshot_doesNotDeleteMissingContacts.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Sequence guard -&gt; syncSequence_regressionIsRejected.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Migration/WAL/indexes -&gt; freshCreate_enablesWalAndCreatesRequiredIndexes.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Access control -&gt; enforceReadAccess_rejectsUnknownUid (and write equivalent).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50/69</a:t>
            </a:r>
            <a:endParaRPr lang="en-US" sz="115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Libraries and Concepts I Use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Android Framework (runtime): SQLiteOpenHelper, SQLiteDatabase, Cursor, ContentValues, Binder.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Java/JDK: collections, immutable value objects, time utilities, exception handling.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JSON handling: org.json JSONArray for phone/email payload encoding.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Security APIs: Android Keystore + javax.crypto Cipher (AES/GCM).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Testing stack: JVM unit tests + AndroidX Test instrumentation suite.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core sync logic separate from Android persistence details.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51/69</a:t>
            </a:r>
            <a:endParaRPr lang="en-US" sz="115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Frameworks and Libraries I Used (Detailed Mapping)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Storage framework: Android SQLite APIs (`SQLiteOpenHelper`, `SQLiteDatabase`).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IPC/security boundary: Binder UID checks via `Binder.getCallingUid()`.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Serialization layer: `org.json` to persist multi-value fields consistently.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Testing framework: AndroidX Test Runner/Rules/Core + JUnit extension.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Crypto layer: Android Keystore for keys + AES-GCM via `Cipher`.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Build/testing setup: Gradle Kotlin DSL in instrumentation module.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Pseudocode: component-to-library map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ContactsProvider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API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ContactsCacheAccessEnforcer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Binder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UID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check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ContactSyncEngine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logic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SqliteContactsCacheStore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SQLiteDatabase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JSON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serialization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org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json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 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Crypto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service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Android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Keystore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+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Cipher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AES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/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GCM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-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&gt;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67E8F9"/>
                </a:solidFill>
                <a:latin typeface="Cascadia Code"/>
              </a:rPr>
              <a:t xml:space="preserve">AndroidX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instrumentation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tests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runner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/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rules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/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core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/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ext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.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junit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52/69</a:t>
            </a:r>
            <a:endParaRPr lang="en-US" sz="115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Actual Testing Dependencies I Use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23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kept the testing stack simple and explicit in Gradle.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 AndroidX Test runner/rules/core plus JUnit extension.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This gives me stable on-device verification for migration + store behavior.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run these alongside JVM tests for quick feedback loops.</a:t>
            </a:r>
            <a:endParaRPr lang="en-US" sz="1825"/>
          </a:p>
        </p:txBody>
      </p:sp>
      <p:sp>
        <p:nvSpPr>
          <p:cNvPr id="5" name="Code"/>
          <p:cNvSpPr/>
          <p:nvPr/>
        </p:nvSpPr>
        <p:spPr>
          <a:xfrm>
            <a:off x="457200" y="3379000"/>
            <a:ext cx="11277600" cy="2920000"/>
          </a:xfrm>
          <a:prstGeom prst="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txBody>
          <a:bodyPr wrap="square" lIns="91440" tIns="45720" rIns="91440" bIns="45720" anchor="t"/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"/>
              </a:spcAft>
            </a:pPr>
            <a:r>
              <a:rPr lang="en-US" sz="1400" b="1">
                <a:solidFill>
                  <a:srgbClr val="BFDBFE"/>
                </a:solidFill>
                <a:latin typeface="Aptos"/>
              </a:rPr>
              <a:t>Snippet: instrumentation-tests/build.gradle.kts</a:t>
            </a:r>
            <a:endParaRPr 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"/>
              </a:spcAft>
            </a:pPr>
            <a:endParaRPr lang="en-US" sz="8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dependencies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{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androidTestImplementation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"androidx.test:runner:1.6.2"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androidTestImplementation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"androidx.test:rules:1.6.1"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androidTestImplementation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"androidx.test.ext:junit:1.2.1"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androidTestImplementation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"androidx.test:core:1.6.1"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    </a:t>
            </a:r>
            <a:r>
              <a:rPr lang="en-US" sz="1200">
                <a:solidFill>
                  <a:srgbClr val="C4B5FD"/>
                </a:solidFill>
                <a:latin typeface="Cascadia Code"/>
              </a:rPr>
              <a:t xml:space="preserve">androidTestImplementation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(</a:t>
            </a:r>
            <a:r>
              <a:rPr lang="en-US" sz="1200">
                <a:solidFill>
                  <a:srgbClr val="86EFAC"/>
                </a:solidFill>
                <a:latin typeface="Cascadia Code"/>
              </a:rPr>
              <a:t xml:space="preserve">"androidx.annotation:annotation:1.9.1"</a:t>
            </a: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)</a:t>
            </a:r>
            <a:endParaRPr lang="en-US" sz="1200"/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00">
                <a:solidFill>
                  <a:srgbClr val="E2E8F0"/>
                </a:solidFill>
                <a:latin typeface="Cascadia Code"/>
              </a:rPr>
              <a:t xml:space="preserve">}</a:t>
            </a:r>
            <a:endParaRPr lang="en-US" sz="120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53/69</a:t>
            </a:r>
            <a:endParaRPr lang="en-US" sz="115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Why I Chose These Frameworks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chose SQLite APIs because they match AAOS/AOSP provider patterns directly.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used Binder UID checks because provider access control is mandatory in-system.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used org.json because phone/email arrays map naturally to JSON payloads.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used AndroidX Test because it validates real Android runtime behavior.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use Keystore + AES-GCM because confidentiality + integrity are both required.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54/69</a:t>
            </a:r>
            <a:endParaRPr lang="en-US" sz="115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My Migration and Rollout Plan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Phase 1 (weeks 1-2): I add schema + sync engine behind a feature flag.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Phase 2 (weeks 3-4): I wire PBAP/USB, telemetry, and permission hardening.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Phase 3 (weeks 5-6): I dogfood, benchmark, and enable by default.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For upgrade, I create tables/indexes in one migration transaction.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If migration fails, I fall back and retry next boot safely.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I keep one release cycle with fallback before deprecating legacy path.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Three-phase rollout with guarded fallback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55/69</a:t>
            </a:r>
            <a:endParaRPr lang="en-US" sz="115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Go/No-Go Checklist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Go gate 1: cold-start load p95 &lt;= 400 ms on target fleet.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Go gate 2: sync success &gt;= 99.5% with no critical security regressions.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Go gate 3: migration pass rate &gt;= 99.9% and rollback validated.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Rollout stages: 5% -&gt; 25% -&gt; 100% with health checks at each stage.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If any gate fails, I keep fallback enabled and pause rollout.</a:t>
            </a:r>
            <a:endParaRPr lang="en-US" sz="1825"/>
          </a:p>
        </p:txBody>
      </p:sp>
      <p:sp>
        <p:nvSpPr>
          <p:cNvPr id="5" name="Footer"/>
          <p:cNvSpPr/>
          <p:nvPr/>
        </p:nvSpPr>
        <p:spPr>
          <a:xfrm>
            <a:off x="457200" y="6464300"/>
            <a:ext cx="860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475569"/>
                </a:solidFill>
                <a:latin typeface="Aptos"/>
              </a:rPr>
              <a:t>Release decision is metric-gated, not assumption-gated.</a:t>
            </a:r>
            <a:endParaRPr lang="en-US" sz="115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56/69</a:t>
            </a:r>
            <a:endParaRPr lang="en-US" sz="115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My Pros and Cons Summary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Approach 1 pros for me: speed, consistency, migration safety, AAOS fit.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Approach 1 cons: more upfront engineering work.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Approach 2 pros: easiest implementation and readable files.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Approach 2 cons: full rewrites and weak query behavior at scale.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Approach 3 pros: strong auditability and durable append log.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Approach 3 cons: replay/compaction burden and slower read path.</a:t>
            </a:r>
            <a:endParaRPr lang="en-US" sz="1825"/>
          </a:p>
        </p:txBody>
      </p:sp>
      <p:sp>
        <p:nvSpPr>
          <p:cNvPr id="5" name="Footer"/>
          <p:cNvSpPr/>
          <p:nvPr/>
        </p:nvSpPr>
        <p:spPr>
          <a:xfrm>
            <a:off x="457200" y="6464300"/>
            <a:ext cx="860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475569"/>
                </a:solidFill>
                <a:latin typeface="Aptos"/>
              </a:rPr>
              <a:t>My decision: use Approach 1 as the production default.</a:t>
            </a:r>
            <a:endParaRPr lang="en-US" sz="115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57/69</a:t>
            </a:r>
            <a:endParaRPr lang="en-US" sz="115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How I Explain This Case Study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start with user pain: contacts disappear and restart feels slow.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Then I show 3 options to explain tradeoffs clearly.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spend most time on Approach 1 because it is production-ready.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show code snippets to prove this is implemented, not theoretical.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close with tests, rollout steps, and risk mitigation.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58/69</a:t>
            </a:r>
            <a:endParaRPr lang="en-US" sz="115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Q&amp;A Backup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Why not keep JSON snapshots? A: simple start, but poor scale and query behavior.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How do I prevent stale overwrite? A: strict version + sequence guard checks.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What happens on decrypt failure? A: fail closed, metric, recovery path.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How do I roll back quickly? A: feature-flag fallback to legacy read path.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Is key rotation disruptive? A: no, batched re-encryption with key_version tracking.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59/69</a:t>
            </a:r>
            <a:endParaRPr lang="en-US" sz="115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Speaker Notes for Main Deck (Slides 1-11)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Slides 1-3: open with cover, index, and decision frame.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Slides 4-6: explain user pain and desired post-fix experience.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Slides 7-8: state constraints and assumptions clearly.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Slides 9-11: compare options and justify Approach 1.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Narration cue: emphasize reliability + rollback confidence early.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60/69</a:t>
            </a:r>
            <a:endParaRPr lang="en-US" sz="115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Speaker Notes for Main Deck (Slides 12-21)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Slides 12-15: walk through lifecycle, API contract, and core code flow.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Slides 16-18: cover threat model, crypto flow, and key rotation briefly.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Slides 19-21: explain fallback behavior and operational runbook actions.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Narration cue: avoid deep crypto internals unless asked.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Narration cue: tie each technical point back to user-visible impact.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61/69</a:t>
            </a:r>
            <a:endParaRPr lang="en-US" sz="115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Speaker Notes for Main Deck (Slides 22-29)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Slides 22-24: present metrics, effort estimate, and test evidence.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Slides 25-29: summarize stack choices, rollout gates, and likely questions.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Slides 30-33: use FAQ pages and thank-you close for interaction.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Narration cue: keep close under 60 seconds with explicit ask.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Narration cue: keep appendix ready for deep-dive questions.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62/69</a:t>
            </a:r>
            <a:endParaRPr lang="en-US" sz="115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Repository References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- docs/AAOS_Persistent_Contacts_Case_Study.md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- approaches/01_sqlite_wal_cache/BEST_APPROACH_STUDY.md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- approaches/01_sqlite_wal_cache/PRODUCTION_DEPLOYMENT_GUIDE.md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- approaches/01_sqlite_wal_cache/aosp_patch/CONTACTS_PROVIDER_PATCH_PLAN.md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- approaches/01_sqlite_wal_cache/src/main/java/...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- approaches/02_json_snapshot_cache/src/main/java/...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- approaches/03_event_log_cache/src/main/java/...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63/69</a:t>
            </a:r>
            <a:endParaRPr lang="en-US" sz="115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Platform and Security References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- https://developer.android.com/reference/android/database/sqlite/SQLiteOpenHelper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- https://developer.android.com/reference/android/os/Binder#getCallingUid()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- https://developer.android.com/privacy-and-security/keystore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- https://developer.android.com/reference/android/security/keystore/KeyGenParameterSpec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- https://developer.android.com/reference/javax/crypto/Cipher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- https://source.android.com/docs/security/features/encryption/file-based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64/69</a:t>
            </a:r>
            <a:endParaRPr lang="en-US" sz="115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My Final Recommendation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recommend SQLite + WAL + sync metadata as the production baseline.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keep JSON snapshot and event log variants as prototype references.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I prioritize migration safety, access controls, and instrumentation.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This repo gives me a strong base for AAOS integration rollout.</a:t>
            </a:r>
            <a:endParaRPr lang="en-US" sz="1825"/>
          </a:p>
        </p:txBody>
      </p:sp>
      <p:sp>
        <p:nvSpPr>
          <p:cNvPr id="5" name="Footer"/>
          <p:cNvSpPr/>
          <p:nvPr/>
        </p:nvSpPr>
        <p:spPr>
          <a:xfrm>
            <a:off x="457200" y="6464300"/>
            <a:ext cx="860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475569"/>
                </a:solidFill>
                <a:latin typeface="Aptos"/>
              </a:rPr>
              <a:t>End of my case study deck</a:t>
            </a:r>
            <a:endParaRPr lang="en-US" sz="1150"/>
          </a:p>
        </p:txBody>
      </p:sp>
      <p:sp>
        <p:nvSpPr>
          <p:cNvPr id="6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65/69</a:t>
            </a:r>
            <a:endParaRPr lang="en-US" sz="115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FAQ 1: Product and UX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Will users notice this immediately?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Yes, startup/reconnect contact experience should be much faster.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Does this replace source-of-truth semantics?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No, source device remains authoritative; cache is local acceleration.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What if source disconnects often?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Cache serves last valid state and sync resumes on reconnect.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66/69</a:t>
            </a:r>
            <a:endParaRPr lang="en-US" sz="115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FAQ 2: Security and Privacy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How is sensitive data protected at rest?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AES-GCM encryption with Keystore-backed key management.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How is unauthorized access blocked?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UID allowlists and permission checks at provider boundary.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Is observability production-safe?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Yes, PII is redacted in logs and telemetry.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67/69</a:t>
            </a:r>
            <a:endParaRPr lang="en-US" sz="115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FAQ 3: Rollout and Reliability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112776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What if metrics degrade during rollout?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Go/no-go gates stop rollout and fallback can be enabled immediately.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How do we recover from decrypt/migration failures?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Fail closed, emit metrics, run controlled recovery and full sync.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Q: How quickly can we revert?</a:t>
            </a:r>
            <a:endParaRPr lang="en-US" sz="18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825">
                <a:solidFill>
                  <a:srgbClr val="1E293B"/>
                </a:solidFill>
                <a:latin typeface="Aptos"/>
              </a:rPr>
              <a:t>• A: Runtime flag rollback is immediate.</a:t>
            </a:r>
            <a:endParaRPr lang="en-US" sz="1825"/>
          </a:p>
        </p:txBody>
      </p:sp>
      <p:sp>
        <p:nvSpPr>
          <p:cNvPr id="5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68/69</a:t>
            </a:r>
            <a:endParaRPr lang="en-US" sz="115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"/>
              </a:spcAft>
            </a:pPr>
            <a:endParaRPr lang="en-US" sz="1000"/>
          </a:p>
        </p:txBody>
      </p:sp>
      <p:sp>
        <p:nvSpPr>
          <p:cNvPr id="3" name="Title"/>
          <p:cNvSpPr/>
          <p:nvPr/>
        </p:nvSpPr>
        <p:spPr>
          <a:xfrm>
            <a:off x="457200" y="190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80"/>
              </a:spcAft>
            </a:pPr>
            <a:r>
              <a:rPr lang="en-US" sz="3400" b="1">
                <a:solidFill>
                  <a:srgbClr val="0F172A"/>
                </a:solidFill>
                <a:latin typeface="Aptos Display"/>
              </a:rPr>
              <a:t>Thank You</a:t>
            </a:r>
            <a:endParaRPr lang="en-US" sz="3400"/>
          </a:p>
        </p:txBody>
      </p:sp>
      <p:sp>
        <p:nvSpPr>
          <p:cNvPr id="4" name="Body"/>
          <p:cNvSpPr/>
          <p:nvPr/>
        </p:nvSpPr>
        <p:spPr>
          <a:xfrm>
            <a:off x="457200" y="914400"/>
            <a:ext cx="7073900" cy="5003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BE6FB"/>
            </a:solidFill>
          </a:ln>
        </p:spPr>
        <p:txBody>
          <a:bodyPr wrap="square" lIns="91440" tIns="45720" rIns="91440" bIns="45720"/>
          <a:lstStyle/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Thank you for your time and feedback.</a:t>
            </a:r>
            <a:endParaRPr lang="en-US" sz="1725"/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90"/>
              </a:spcAft>
            </a:pPr>
            <a:r>
              <a:rPr lang="en-US" sz="1725">
                <a:solidFill>
                  <a:srgbClr val="1E293B"/>
                </a:solidFill>
                <a:latin typeface="Aptos"/>
              </a:rPr>
              <a:t>• I’m ready for deep-dive questions on implementation, security, or rollout.</a:t>
            </a:r>
            <a:endParaRPr lang="en-US" sz="1725"/>
          </a:p>
        </p:txBody>
      </p:sp>
      <p:pic>
        <p:nvPicPr>
          <p:cNvPr id="5" name="Illust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800" y="1300000"/>
            <a:ext cx="3850000" cy="2980000"/>
          </a:xfrm>
          <a:prstGeom prst="rect">
            <a:avLst/>
          </a:prstGeom>
          <a:ln w="19050">
            <a:solidFill>
              <a:srgbClr val="C7D2FE"/>
            </a:solidFill>
          </a:ln>
        </p:spPr>
      </p:pic>
      <p:sp>
        <p:nvSpPr>
          <p:cNvPr id="6" name="Image Caption"/>
          <p:cNvSpPr/>
          <p:nvPr/>
        </p:nvSpPr>
        <p:spPr>
          <a:xfrm>
            <a:off x="7797800" y="4375000"/>
            <a:ext cx="38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30"/>
              </a:spcAft>
            </a:pPr>
            <a:r>
              <a:rPr lang="en-US" sz="1225">
                <a:solidFill>
                  <a:srgbClr val="475569"/>
                </a:solidFill>
                <a:latin typeface="Aptos"/>
              </a:rPr>
              <a:t>End of appendix</a:t>
            </a:r>
            <a:endParaRPr lang="en-US" sz="1225"/>
          </a:p>
        </p:txBody>
      </p:sp>
      <p:sp>
        <p:nvSpPr>
          <p:cNvPr id="7" name="Slide Number"/>
          <p:cNvSpPr/>
          <p:nvPr/>
        </p:nvSpPr>
        <p:spPr>
          <a:xfrm>
            <a:off x="9906000" y="6464300"/>
            <a:ext cx="1437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>
                <a:solidFill>
                  <a:srgbClr val="64748B"/>
                </a:solidFill>
                <a:latin typeface="Aptos"/>
              </a:rPr>
              <a:t>69/69</a:t>
            </a:r>
            <a:endParaRPr lang="en-US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se Study Theme">
  <a:themeElements>
    <a:clrScheme name="Case Study">
      <a:dk1>
        <a:srgbClr val="0F172A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D97706"/>
      </a:accent3>
      <a:accent4>
        <a:srgbClr val="0EA5E9"/>
      </a:accent4>
      <a:accent5>
        <a:srgbClr val="DC2626"/>
      </a:accent5>
      <a:accent6>
        <a:srgbClr val="7C3AED"/>
      </a:accent6>
      <a:hlink>
        <a:srgbClr val="2563EB"/>
      </a:hlink>
      <a:folHlink>
        <a:srgbClr val="7C3AED"/>
      </a:folHlink>
    </a:clrScheme>
    <a:fontScheme name="Case Study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Case Study">
      <a:fillStyleLst>
        <a:solidFill>
          <a:schemeClr val="phClr"/>
        </a:solidFill>
        <a:gradFill rotWithShape="1">
          <a:gsLst>
            <a:gs pos="0">
              <a:schemeClr val="phClr">
                <a:satMod val="103000"/>
                <a:lumMod val="102000"/>
              </a:schemeClr>
            </a:gs>
            <a:gs pos="100000">
              <a:schemeClr val="phClr">
                <a:satMod val="99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100000"/>
                <a:sat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100000">
              <a:schemeClr val="phClr">
                <a:tint val="98000"/>
                <a:satMod val="13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69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Case Study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AAOS Persistent Contacts Cache Case Study</dc:title>
  <dc:subject>Approach comparison and recommended architecture</dc:subject>
  <dc:creator>Codex</dc:creator>
  <cp:lastModifiedBy>Codex</cp:lastModifiedBy>
  <dcterms:created xsi:type="dcterms:W3CDTF">2026-02-20T22:46:43Z</dcterms:created>
  <dcterms:modified xsi:type="dcterms:W3CDTF">2026-02-20T22:46:43Z</dcterms:modified>
</cp:coreProperties>
</file>