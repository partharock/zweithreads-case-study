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 type="screen16x9"/>
  <p:notesSz cx="6858000" cy="9144000"/>
  <p:defaultTextStyle>
    <a:defPPr/>
    <a:lvl1pPr marL="0" indent="0">
      <a:defRPr sz="1800"/>
    </a:lvl1pPr>
    <a:lvl2pPr marL="457200" indent="0">
      <a:defRPr sz="1600"/>
    </a:lvl2pPr>
    <a:lvl3pPr marL="914400" indent="0">
      <a:defRPr sz="1400"/>
    </a:lvl3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/>
  <p:notesTextViewPr/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BFF"/>
            </a:gs>
            <a:gs pos="100000">
              <a:srgbClr val="ECF3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400" b="1"/>
      </a:lvl1pPr>
    </p:titleStyle>
    <p:bodyStyle>
      <a:lvl1pPr marL="0" indent="0">
        <a:defRPr sz="1800"/>
      </a:lvl1pPr>
      <a:lvl2pPr marL="457200" indent="0">
        <a:defRPr sz="1650"/>
      </a:lvl2pPr>
    </p:bodyStyle>
    <p:otherStyle>
      <a:lvl1pPr marL="0" indent="0">
        <a:defRPr sz="15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9.xml"/><Relationship Id="rId5" Type="http://schemas.openxmlformats.org/officeDocument/2006/relationships/slide" Target="slide13.xml"/><Relationship Id="rId6" Type="http://schemas.openxmlformats.org/officeDocument/2006/relationships/slide" Target="slide24.xml"/><Relationship Id="rId7" Type="http://schemas.openxmlformats.org/officeDocument/2006/relationships/slide" Target="slide30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AAOS Persistent Contacts Cache Case Study (Main Deck)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This is my presentation flow for fast review and decision-making.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I focus on the problem, my recommendation, and rollout readiness.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I keep deep pseudocode and extended security notes in the appendix deck.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Main deck: concise decision-oriented story</a:t>
            </a:r>
            <a:endParaRPr lang="en-US" sz="1225"/>
          </a:p>
        </p:txBody>
      </p:sp>
      <p:sp>
        <p:nvSpPr>
          <p:cNvPr id="7" name="Footer"/>
          <p:cNvSpPr/>
          <p:nvPr/>
        </p:nvSpPr>
        <p:spPr>
          <a:xfrm>
            <a:off x="457200" y="6464300"/>
            <a:ext cx="860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475569"/>
                </a:solidFill>
                <a:latin typeface="Aptos"/>
              </a:rPr>
              <a:t>Prepared on February 20, 2026</a:t>
            </a:r>
            <a:endParaRPr lang="en-US" sz="1150"/>
          </a:p>
        </p:txBody>
      </p:sp>
      <p:sp>
        <p:nvSpPr>
          <p:cNvPr id="8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1/33</a:t>
            </a:r>
            <a:endParaRPr lang="en-US"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Index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650">
                <a:solidFill>
                  <a:srgbClr val="1E293B"/>
                </a:solidFill>
                <a:latin typeface="Aptos"/>
              </a:rPr>
              <a:t>• Click any card below to jump directly to that section.</a:t>
            </a:r>
            <a:endParaRPr lang="en-US" sz="1650"/>
          </a:p>
        </p:txBody>
      </p:sp>
      <p:sp>
        <p:nvSpPr>
          <p:cNvPr id="5" name="Index Card Executive Summary"/>
          <p:cNvSpPr/>
          <p:nvPr>
            <a:hlinkClick r:id="rId2" action="ppaction://hlinksldjump"/>
          </p:nvPr>
        </p:nvSpPr>
        <p:spPr>
          <a:xfrm>
            <a:off x="457200" y="2042160"/>
            <a:ext cx="5486400" cy="119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"/>
              </a:spcAft>
            </a:pPr>
            <a:r>
              <a:rPr lang="en-US" sz="1500" b="1" u="sng">
                <a:solidFill>
                  <a:srgbClr val="1D4ED8"/>
                </a:solidFill>
                <a:latin typeface="Aptos"/>
                <a:hlinkClick r:id="rId2" action="ppaction://hlinksldjump"/>
              </a:rPr>
              <a:t>Executive Summary</a:t>
            </a:r>
            <a:endParaRPr lang="en-US" sz="15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175">
                <a:solidFill>
                  <a:srgbClr val="334155"/>
                </a:solidFill>
                <a:latin typeface="Aptos"/>
              </a:rPr>
              <a:t>Problem, recommendation, and expected impact</a:t>
            </a:r>
            <a:endParaRPr lang="en-US" sz="1175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u="sng">
                <a:solidFill>
                  <a:srgbClr val="2563EB"/>
                </a:solidFill>
                <a:latin typeface="Aptos"/>
                <a:hlinkClick r:id="rId2" action="ppaction://hlinksldjump"/>
              </a:rPr>
              <a:t>Click to open section</a:t>
            </a:r>
            <a:endParaRPr lang="en-US" sz="1050"/>
          </a:p>
        </p:txBody>
      </p:sp>
      <p:sp>
        <p:nvSpPr>
          <p:cNvPr id="6" name="Index Card Problem and Context"/>
          <p:cNvSpPr/>
          <p:nvPr>
            <a:hlinkClick r:id="rId3" action="ppaction://hlinksldjump"/>
          </p:nvPr>
        </p:nvSpPr>
        <p:spPr>
          <a:xfrm>
            <a:off x="6248400" y="2042160"/>
            <a:ext cx="5486400" cy="119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"/>
              </a:spcAft>
            </a:pPr>
            <a:r>
              <a:rPr lang="en-US" sz="1500" b="1" u="sng">
                <a:solidFill>
                  <a:srgbClr val="1D4ED8"/>
                </a:solidFill>
                <a:latin typeface="Aptos"/>
                <a:hlinkClick r:id="rId3" action="ppaction://hlinksldjump"/>
              </a:rPr>
              <a:t>Problem and Context</a:t>
            </a:r>
            <a:endParaRPr lang="en-US" sz="15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175">
                <a:solidFill>
                  <a:srgbClr val="334155"/>
                </a:solidFill>
                <a:latin typeface="Aptos"/>
              </a:rPr>
              <a:t>Current vs desired user experience</a:t>
            </a:r>
            <a:endParaRPr lang="en-US" sz="1175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u="sng">
                <a:solidFill>
                  <a:srgbClr val="2563EB"/>
                </a:solidFill>
                <a:latin typeface="Aptos"/>
                <a:hlinkClick r:id="rId3" action="ppaction://hlinksldjump"/>
              </a:rPr>
              <a:t>Click to open section</a:t>
            </a:r>
            <a:endParaRPr lang="en-US" sz="1050"/>
          </a:p>
        </p:txBody>
      </p:sp>
      <p:sp>
        <p:nvSpPr>
          <p:cNvPr id="7" name="Index Card Options and Decision"/>
          <p:cNvSpPr/>
          <p:nvPr>
            <a:hlinkClick r:id="rId4" action="ppaction://hlinksldjump"/>
          </p:nvPr>
        </p:nvSpPr>
        <p:spPr>
          <a:xfrm>
            <a:off x="457200" y="3430280"/>
            <a:ext cx="5486400" cy="119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"/>
              </a:spcAft>
            </a:pPr>
            <a:r>
              <a:rPr lang="en-US" sz="1500" b="1" u="sng">
                <a:solidFill>
                  <a:srgbClr val="1D4ED8"/>
                </a:solidFill>
                <a:latin typeface="Aptos"/>
                <a:hlinkClick r:id="rId4" action="ppaction://hlinksldjump"/>
              </a:rPr>
              <a:t>Options and Decision</a:t>
            </a:r>
            <a:endParaRPr lang="en-US" sz="15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175">
                <a:solidFill>
                  <a:srgbClr val="334155"/>
                </a:solidFill>
                <a:latin typeface="Aptos"/>
              </a:rPr>
              <a:t>Tradeoffs and why Approach 1 wins</a:t>
            </a:r>
            <a:endParaRPr lang="en-US" sz="1175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u="sng">
                <a:solidFill>
                  <a:srgbClr val="2563EB"/>
                </a:solidFill>
                <a:latin typeface="Aptos"/>
                <a:hlinkClick r:id="rId4" action="ppaction://hlinksldjump"/>
              </a:rPr>
              <a:t>Click to open section</a:t>
            </a:r>
            <a:endParaRPr lang="en-US" sz="1050"/>
          </a:p>
        </p:txBody>
      </p:sp>
      <p:sp>
        <p:nvSpPr>
          <p:cNvPr id="8" name="Index Card Implementation and Security"/>
          <p:cNvSpPr/>
          <p:nvPr>
            <a:hlinkClick r:id="rId5" action="ppaction://hlinksldjump"/>
          </p:nvPr>
        </p:nvSpPr>
        <p:spPr>
          <a:xfrm>
            <a:off x="6248400" y="3430280"/>
            <a:ext cx="5486400" cy="119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"/>
              </a:spcAft>
            </a:pPr>
            <a:r>
              <a:rPr lang="en-US" sz="1500" b="1" u="sng">
                <a:solidFill>
                  <a:srgbClr val="1D4ED8"/>
                </a:solidFill>
                <a:latin typeface="Aptos"/>
                <a:hlinkClick r:id="rId5" action="ppaction://hlinksldjump"/>
              </a:rPr>
              <a:t>Implementation and Security</a:t>
            </a:r>
            <a:endParaRPr lang="en-US" sz="15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175">
                <a:solidFill>
                  <a:srgbClr val="334155"/>
                </a:solidFill>
                <a:latin typeface="Aptos"/>
              </a:rPr>
              <a:t>Data flow, API, crypto, and fallback</a:t>
            </a:r>
            <a:endParaRPr lang="en-US" sz="1175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u="sng">
                <a:solidFill>
                  <a:srgbClr val="2563EB"/>
                </a:solidFill>
                <a:latin typeface="Aptos"/>
                <a:hlinkClick r:id="rId5" action="ppaction://hlinksldjump"/>
              </a:rPr>
              <a:t>Click to open section</a:t>
            </a:r>
            <a:endParaRPr lang="en-US" sz="1050"/>
          </a:p>
        </p:txBody>
      </p:sp>
      <p:sp>
        <p:nvSpPr>
          <p:cNvPr id="9" name="Index Card Metrics and Rollout"/>
          <p:cNvSpPr/>
          <p:nvPr>
            <a:hlinkClick r:id="rId6" action="ppaction://hlinksldjump"/>
          </p:nvPr>
        </p:nvSpPr>
        <p:spPr>
          <a:xfrm>
            <a:off x="457200" y="4818400"/>
            <a:ext cx="5486400" cy="119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"/>
              </a:spcAft>
            </a:pPr>
            <a:r>
              <a:rPr lang="en-US" sz="1500" b="1" u="sng">
                <a:solidFill>
                  <a:srgbClr val="1D4ED8"/>
                </a:solidFill>
                <a:latin typeface="Aptos"/>
                <a:hlinkClick r:id="rId6" action="ppaction://hlinksldjump"/>
              </a:rPr>
              <a:t>Metrics and Rollout</a:t>
            </a:r>
            <a:endParaRPr lang="en-US" sz="15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175">
                <a:solidFill>
                  <a:srgbClr val="334155"/>
                </a:solidFill>
                <a:latin typeface="Aptos"/>
              </a:rPr>
              <a:t>Targets, tests, libraries, and go/no-go</a:t>
            </a:r>
            <a:endParaRPr lang="en-US" sz="1175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u="sng">
                <a:solidFill>
                  <a:srgbClr val="2563EB"/>
                </a:solidFill>
                <a:latin typeface="Aptos"/>
                <a:hlinkClick r:id="rId6" action="ppaction://hlinksldjump"/>
              </a:rPr>
              <a:t>Click to open section</a:t>
            </a:r>
            <a:endParaRPr lang="en-US" sz="1050"/>
          </a:p>
        </p:txBody>
      </p:sp>
      <p:sp>
        <p:nvSpPr>
          <p:cNvPr id="10" name="Index Card Q&amp;A and Backup"/>
          <p:cNvSpPr/>
          <p:nvPr>
            <a:hlinkClick r:id="rId7" action="ppaction://hlinksldjump"/>
          </p:nvPr>
        </p:nvSpPr>
        <p:spPr>
          <a:xfrm>
            <a:off x="6248400" y="4818400"/>
            <a:ext cx="5486400" cy="119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"/>
              </a:spcAft>
            </a:pPr>
            <a:r>
              <a:rPr lang="en-US" sz="1500" b="1" u="sng">
                <a:solidFill>
                  <a:srgbClr val="1D4ED8"/>
                </a:solidFill>
                <a:latin typeface="Aptos"/>
                <a:hlinkClick r:id="rId7" action="ppaction://hlinksldjump"/>
              </a:rPr>
              <a:t>Q&amp;A and Backup</a:t>
            </a:r>
            <a:endParaRPr lang="en-US" sz="15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175">
                <a:solidFill>
                  <a:srgbClr val="334155"/>
                </a:solidFill>
                <a:latin typeface="Aptos"/>
              </a:rPr>
              <a:t>Likely questions and deep-dive appendix</a:t>
            </a:r>
            <a:endParaRPr lang="en-US" sz="1175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u="sng">
                <a:solidFill>
                  <a:srgbClr val="2563EB"/>
                </a:solidFill>
                <a:latin typeface="Aptos"/>
                <a:hlinkClick r:id="rId7" action="ppaction://hlinksldjump"/>
              </a:rPr>
              <a:t>Click to open section</a:t>
            </a:r>
            <a:endParaRPr lang="en-US" sz="1050"/>
          </a:p>
        </p:txBody>
      </p:sp>
      <p:sp>
        <p:nvSpPr>
          <p:cNvPr id="11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2/33</a:t>
            </a:r>
            <a:endParaRPr lang="en-US" sz="1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30-Second Executive Summary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Problem: contacts disappear after reboot/disconnect because cache is volatile.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Solution: I persist contacts in SQLite with WAL and sync metadata.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Security: UID access checks plus AES-GCM encryption for sensitive fields.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Target impact: restart contact load p95 under 400 ms.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Rollout: phased feature-flag release with automatic fallback gates.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Recommendation: secure durable cache with controlled rollout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3/33</a:t>
            </a:r>
            <a:endParaRPr lang="en-US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Problem Context (In Simple Terms)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Users expect saved contacts to be ready every time they enter the car.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Today, that experience breaks when process/session state is lost.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Repeated full sync creates visible delay and unnecessary traffic.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My objective is reliable fast access first, sync catch-up in background.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Volatile state causes user-visible delays and retries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4/33</a:t>
            </a:r>
            <a:endParaRPr lang="en-US" sz="1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Current Flow (Today)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1. Phone connects and contacts are loaded into temporary memory.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2. UI works while that process/session remains alive.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3. Reboot/disconnect/process death clears temporary state.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4. Next session requires a fresh, often full, sync cycle.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Result: inconsistent startup experience for the driver.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Current flow depends too much on volatile process state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5/33</a:t>
            </a:r>
            <a:endParaRPr lang="en-US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Desired Flow (After My Fix)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1. I still ingest data from PBAP/USB adapters.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2. I write normalized records into durable local cache.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3. On restart, UI reads local cache immediately.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4. Sync then applies only changes (delta) when available.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Result: quick startup and stable contact availability.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Durable cache enables fast reads before full sync catch-up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6/33</a:t>
            </a:r>
            <a:endParaRPr lang="en-US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Non-Negotiable Constraints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Correctness: no stale data overwrite, no silent mass delete on partial payloads.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Security: only authorized UIDs can read/write provider data.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Performance: responsive reads even during sync writes.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Operations: safe schema migration and predictable rollback path.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Scalability: support multi-device pairing without source collisions.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7/33</a:t>
            </a:r>
            <a:endParaRPr lang="en-US" sz="1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Assumptions and Non-Goals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Assumption: source adapters eventually deliver complete and valid identifiers.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Assumption: AAOS storage stack and Keystore APIs are available on target build.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Assumption: UI can tolerate brief stale reads until next delta sync.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Non-goal: replace upstream contacts source-of-truth semantics.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Non-goal: solve cloud contact conflicts outside in-vehicle cache boundary.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8/33</a:t>
            </a:r>
            <a:endParaRPr lang="en-US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Approach Comparison (Quick)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Approach 1 - SQLite + WAL: strong consistency, fast indexed reads, migration support.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Approach 2 - JSON snapshots: easiest start, weak scalability and transaction safety.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Approach 3 - Event log: strong audit trail, heavier read/compaction complexity.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My choice: Approach 1 for production reliability and maintainability.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9/33</a:t>
            </a:r>
            <a:endParaRPr lang="en-US" sz="1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Pros vs Cons Table: Previous vs Current Approach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00">
                <a:solidFill>
                  <a:srgbClr val="1E293B"/>
                </a:solidFill>
                <a:latin typeface="Aptos"/>
              </a:rPr>
              <a:t>• I summarized the practical tradeoffs between the earlier flow and my current design.</a:t>
            </a:r>
            <a:endParaRPr lang="en-US" sz="1700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00">
                <a:solidFill>
                  <a:srgbClr val="1E293B"/>
                </a:solidFill>
                <a:latin typeface="Aptos"/>
              </a:rPr>
              <a:t>• This helps quickly explain why I moved to the new architecture.</a:t>
            </a:r>
            <a:endParaRPr lang="en-US" sz="1700"/>
          </a:p>
        </p:txBody>
      </p:sp>
      <p:graphicFrame>
        <p:nvGraphicFramePr>
          <p:cNvPr id="5" name="Data Table"/>
          <p:cNvGraphicFramePr>
            <a:graphicFrameLocks noGrp="1"/>
          </p:cNvGraphicFramePr>
          <p:nvPr/>
        </p:nvGraphicFramePr>
        <p:xfrm>
          <a:off x="457200" y="2194560"/>
          <a:ext cx="1127760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00"/>
                <a:gridCol w="4653800"/>
                <a:gridCol w="4653800"/>
              </a:tblGrid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Area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Previous Approach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Current Approach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Startup UX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Slow after reboot/disconnect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Fast cached load before sync catch-up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Consistency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State can be lost after process reset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Durable transactional state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Sync Cost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Frequent full sync and higher traffic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Delta-first updates, less repeated traffic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Read Speed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No indexed durable query path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Indexed, predictable read latency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Security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Basic controls only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UID ACL + AES-GCM + key rotation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Operations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Lower recovery confidence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Versioned migration + clear fallback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Main Pro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Simple initial implementation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Reliable production behavior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Main Con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Unreliable restart experience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More upfront engineering effort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10/33</a:t>
            </a:r>
            <a:endParaRPr lang="en-US" sz="1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Pros vs Cons Table: Three Approaches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00">
                <a:solidFill>
                  <a:srgbClr val="1E293B"/>
                </a:solidFill>
                <a:latin typeface="Aptos"/>
              </a:rPr>
              <a:t>• I use this table to compare all three options side by side.</a:t>
            </a:r>
            <a:endParaRPr lang="en-US" sz="1700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00">
                <a:solidFill>
                  <a:srgbClr val="1E293B"/>
                </a:solidFill>
                <a:latin typeface="Aptos"/>
              </a:rPr>
              <a:t>• It helps quickly justify why Approach 1 is my production choice.</a:t>
            </a:r>
            <a:endParaRPr lang="en-US" sz="1700"/>
          </a:p>
        </p:txBody>
      </p:sp>
      <p:graphicFrame>
        <p:nvGraphicFramePr>
          <p:cNvPr id="5" name="Data Table"/>
          <p:cNvGraphicFramePr>
            <a:graphicFrameLocks noGrp="1"/>
          </p:cNvGraphicFramePr>
          <p:nvPr/>
        </p:nvGraphicFramePr>
        <p:xfrm>
          <a:off x="457200" y="2194560"/>
          <a:ext cx="1127760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000"/>
                <a:gridCol w="3225000"/>
                <a:gridCol w="3225000"/>
                <a:gridCol w="2807600"/>
              </a:tblGrid>
              <a:tr h="975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Approach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Key Pros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Key Cons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Best Fit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975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Approach 1: SQLite + WAL + metadata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Fast indexed reads; strong transactions; migration friendly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Higher upfront schema and migration complexity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Production AAOS persistent contacts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975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Approach 2: JSON snapshot files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Lowest initial complexity; easy manual inspection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Full rewrites; weak query model; no robust transactions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Prototype or very small datasets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975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Approach 3: Append-only event log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Strong auditability; durable append behavior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Replay/compaction overhead; slower read path at scale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Audit-first, analytics-heavy systems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11/33</a:t>
            </a:r>
            <a:endParaRPr lang="en-US" sz="11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Decision in One Slide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I recommend SQLite + WAL + sync metadata as the default architecture.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It gives me deterministic writes and fast read path for UI.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It aligns with AAOS provider patterns and migration practices.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I accept the upfront schema effort for better long-term stability.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Best tradeoff for production AAOS deployment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12/33</a:t>
            </a:r>
            <a:endParaRPr lang="en-US" sz="1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Data Lifecycle (End to End)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Ingest: receive contacts from PBAP/USB adapter.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Normalize: sanitize fields, dedupe records, validate payload.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Protect: encrypt sensitive JSON fields before persistence.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Persist: upsert/delete inside one transaction and update sync state.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Serve &amp; retain: read active rows fast, purge old tombstones async.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Lifecycle pseudocode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RawContact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batch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normalizeAndDedupe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encryptSensitiveFields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inTransaction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applyFullOrDeltaSync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updateSyncState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queryActiveForUI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runRetentionJob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13/33</a:t>
            </a:r>
            <a:endParaRPr lang="en-US" sz="11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API Contract (Sync Input/Output + Error Codes)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API contracts explicit so source adapters and store stay decoupled.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return stable counters plus sync token for resumable sync.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 explicit error codes for recovery decisions.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request/response contract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final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class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SyncRequest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sourceDevice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boolean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fullSnapshot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long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sourceSequence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syncToken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RawContact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contacts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deletedIds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final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class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SyncResponse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int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inserted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updated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deleted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staleIgnored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nextSyncToken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ErrorCode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error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14/33</a:t>
            </a:r>
            <a:endParaRPr lang="en-US" sz="11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My Step-by-Step Implementation Plan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Step 1-2: DB bootstrap, schema, indexes, migration hooks.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Step 3-5: normalize input, full sync flow, delta sync flow.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Step 6-8: stale guards, read APIs, UID + encryption security.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Step 9-10: retention/recovery and feature-flag rollout.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each step independently testable before release.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15/33</a:t>
            </a:r>
            <a:endParaRPr lang="en-US" sz="11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Core Setup Snippet (DB + WAL + Schema Hooks)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initialization minimal and deterministic.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WAL and foreign keys are enabled at configure time.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database helper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F0ABFC"/>
                </a:solidFill>
                <a:latin typeface="Cascadia Code"/>
              </a:rPr>
              <a:t xml:space="preserve">@Override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public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onConfigure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SQLiteDatabase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enableWriteAheadLogging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execSQL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"PRAGMA foreign_keys=ON"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execSQL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"PRAGMA synchronous=NORMAL"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F0ABFC"/>
                </a:solidFill>
                <a:latin typeface="Cascadia Code"/>
              </a:rPr>
              <a:t xml:space="preserve">@Override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public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onCreate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SQLiteDatabase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createTables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</a:t>
            </a:r>
            <a:r>
              <a:rPr lang="en-US" sz="1200" i="1">
                <a:solidFill>
                  <a:srgbClr val="94A3B8"/>
                </a:solidFill>
                <a:latin typeface="Cascadia Code"/>
              </a:rPr>
              <a:t xml:space="preserve">// contacts + sync_state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createIndexes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</a:t>
            </a:r>
            <a:r>
              <a:rPr lang="en-US" sz="1200" i="1">
                <a:solidFill>
                  <a:srgbClr val="94A3B8"/>
                </a:solidFill>
                <a:latin typeface="Cascadia Code"/>
              </a:rPr>
              <a:t xml:space="preserve">// query + retention + version guards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16/33</a:t>
            </a:r>
            <a:endParaRPr lang="en-US" sz="11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Core Sync Snippet (Single Entry Point)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route full and delta sync through one orchestrator function.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update sync state in the same transaction as row updates.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sync orchestration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handleSync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enforceWriteAccess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assertSequence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readLastSequence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NormalizedContact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normalizeAll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contacts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inTransaction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isFullSnapshot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applyFullSync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else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applyDeltaSync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delta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upsertSyncState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success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17/33</a:t>
            </a:r>
            <a:endParaRPr lang="en-US" sz="11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Core Read Snippet (Fast UI Path)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only query active rows and decrypt only for authorized callers.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reads indexed and sorted for predictable UI latency.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list API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ContactView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listActive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int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limit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query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"source_device=? AND deleted=0"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[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]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"display_name COLLATE NOCASE ASC"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limit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map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decryptForAuthorizedCaller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18/33</a:t>
            </a:r>
            <a:endParaRPr lang="en-US" sz="11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Threat Model and Mitigations (1:1)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Unauthorized provider read -&gt; UID allowlist + permission enforcement.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Stale/out-of-order sync packet -&gt; version and sequence guard rails.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Ciphertext tampering -&gt; AES-GCM tag validation and fail-closed behavior.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PII leak in observability -&gt; strict redaction in logs and telemetry.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DB corruption -&gt; recovery flow: clear cache + trigger fresh full sync.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19/33</a:t>
            </a:r>
            <a:endParaRPr lang="en-US" sz="11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Encryption and Decryption Flow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encrypt high-risk fields before insert/update.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 AES-GCM with random IV and AAD(source|contactId).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verify authentication tag during decrypt and fail closed on mismatch.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field crypto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EncryptedBlob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encryptField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plain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SecretKey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byte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[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]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iv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randomBytes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FDBA74"/>
                </a:solidFill>
                <a:latin typeface="Cascadia Code"/>
              </a:rPr>
              <a:t xml:space="preserve">12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Cipher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Cipher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getInstance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"AES/GCM/NoPadding"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init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Cipher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ENCRYPT_MODE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GCMParameterSpec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FDBA74"/>
                </a:solidFill>
                <a:latin typeface="Cascadia Code"/>
              </a:rPr>
              <a:t xml:space="preserve">128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iv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updateAAD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+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"|"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+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getBytes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UTF_8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EncryptedBlob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base64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doFinal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plain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getBytes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UTF_8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base64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iv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decryptField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/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*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same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AAD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+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tag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check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fail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closed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AEADBadTagException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*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/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20/33</a:t>
            </a:r>
            <a:endParaRPr lang="en-US" sz="11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Key Management and Rotation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store AES keys in Android Keystore (non-exportable).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key_version per row for controlled migration.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rotate keys in small batches and promote only after verification.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key rotation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rotateKeysIfDue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!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rotationPolicy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isDue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nowMs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KeyRef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keyManager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createNextVersion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for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: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rowsByKeyVersion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keyManager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currentVersion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plain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decryptField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keyManager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currentKey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EncryptedBlob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reenc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encryptField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plain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updateEncryptedPayload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reenc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keyManager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promote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21/33</a:t>
            </a:r>
            <a:endParaRPr lang="en-US" sz="11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Failure Scenarios and Exact Fallback Behavior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Sequence regression detected -&gt; reject batch, request source recovery/full sync.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AEAD tag failure on decrypt -&gt; block row read, emit security metric, schedule recovery.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Migration failure at boot -&gt; keep legacy path enabled and retry next boot.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Store transaction error -&gt; rollback batch, preserve last consistent state.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Critical cache failure rate breach -&gt; auto-disable feature flag and fallback.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22/33</a:t>
            </a:r>
            <a:endParaRPr lang="en-US" sz="11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Operational Runbook (When Things Go Wrong)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Step 1: check health dashboard (sync success, decrypt errors, migration failures).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Step 2: inspect recent logs with PII-safe IDs for failing source device.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Step 3: validate key alias/version availability in Keystore.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Step 4: verify sequence/token progression; trigger controlled full sync if needed.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Step 5: if thresholds are breached, disable feature flag and fall back safely.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23/33</a:t>
            </a:r>
            <a:endParaRPr lang="en-US" sz="11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Before vs After Metrics (Target)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Cold-start contact load (p95): 2500-4000 ms -&gt; &lt;= 400 ms.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Repeated full-sync frequency per day: high -&gt; reduced by &gt;= 60%.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Sync success rate: baseline -&gt; &gt;= 99.5% steady-state.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Stale overwrite incidents: non-zero risk -&gt; 0 tolerated by design guards.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Recovery time from corruption: manual/slow -&gt; automated next sync cycle.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Operational targets used for release decisions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24/33</a:t>
            </a:r>
            <a:endParaRPr lang="en-US" sz="11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Cost and Effort Estimate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Engineering: 4-6 weeks for core implementation + integration hardening.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Security: 1-2 weeks for Keystore/AES-GCM validation and threat checks.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Testing: 2-3 weeks for JVM + instrumentation + migration regression matrix.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Rollout/monitoring: 1-2 weeks for staged launch and observability tuning.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Total estimate: 8-13 weeks depending on OEM integration dependencies.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25/33</a:t>
            </a:r>
            <a:endParaRPr lang="en-US" sz="11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Test Coverage Matrix (Requirement -&gt; Evidence)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Persistence after reopen -&gt; `fullSync_persistsAcrossDatabaseReopen`.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Delta correctness -&gt; `deltaSync_updatesAndDeletesCorrectRows`.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Partial snapshot safety -&gt; `fullSync_partialSnapshot_doesNotDeleteMissingContacts`.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Sequence guard -&gt; `syncSequence_regressionIsRejected`.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Migration/WAL/indexes -&gt; `freshCreate_enablesWalAndCreatesRequiredIndexes`.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Access control -&gt; `enforceReadAccess_rejectsUnknownUid` + write equivalent.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26/33</a:t>
            </a:r>
            <a:endParaRPr lang="en-US" sz="11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Libraries and Frameworks I Used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Storage framework: Android `SQLiteOpenHelper` + `SQLiteDatabase` + `Cursor`.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Security boundary: `Binder.getCallingUid()` for provider authorization.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Serialization: `org.json` for phones/emails payload handling.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Crypto: Android Keystore + `Cipher` (`AES/GCM/NoPadding`).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Testing: AndroidX Test (`runner`, `rules`, `core`, `ext.junit`) + JVM tests.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Build setup: Gradle Kotlin DSL for instrumentation module.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27/33</a:t>
            </a:r>
            <a:endParaRPr lang="en-US" sz="11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Go/No-Go Checklist and Rollout Plan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Go gate 1: cold-start load p95 &lt;= 400 ms for target fleet.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Go gate 2: sync success &gt;= 99.5% with no critical security regressions.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Go gate 3: migration pass rate &gt;= 99.9%, rollback path validated.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Rollout stages: 5% -&gt; 25% -&gt; 100% with automated health checks.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If any gate fails, I keep fallback active and pause rollout.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Detailed pseudocode/security deep dive is in the appendix deck.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Controlled rollout with objective go/no-go gates</a:t>
            </a:r>
            <a:endParaRPr lang="en-US" sz="1225"/>
          </a:p>
        </p:txBody>
      </p:sp>
      <p:sp>
        <p:nvSpPr>
          <p:cNvPr id="7" name="Footer"/>
          <p:cNvSpPr/>
          <p:nvPr/>
        </p:nvSpPr>
        <p:spPr>
          <a:xfrm>
            <a:off x="457200" y="6464300"/>
            <a:ext cx="860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475569"/>
                </a:solidFill>
                <a:latin typeface="Aptos"/>
              </a:rPr>
              <a:t>My recommendation: ship SQLite + WAL + encrypted fields after gates pass.</a:t>
            </a:r>
            <a:endParaRPr lang="en-US" sz="1150"/>
          </a:p>
        </p:txBody>
      </p:sp>
      <p:sp>
        <p:nvSpPr>
          <p:cNvPr id="8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28/33</a:t>
            </a:r>
            <a:endParaRPr lang="en-US" sz="11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Q&amp;A Backup (Likely Questions)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Why not JSON snapshot for speed? A: it is simple but scales poorly and weakly transactional.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What if decrypt fails? A: fail closed for row, emit metric, trigger safe recovery.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What if migration fails in field? A: fallback remains active and retry happens next boot.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How is stale data prevented? A: version and sequence guard rails block regressions.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How do we roll back quickly? A: feature flag disable routes reads to legacy path.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29/33</a:t>
            </a:r>
            <a:endParaRPr lang="en-US" sz="115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FAQ 1: Product and UX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Will users notice this change immediately?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Yes, restart/reconnect contact availability should feel significantly faster.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Does this replace phone contacts as source-of-truth?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No, source device remains authoritative; this is a durable local cache.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What if source is temporarily offline?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Cached contacts remain readable until sync reconnect succeeds.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30/33</a:t>
            </a:r>
            <a:endParaRPr lang="en-US" sz="11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FAQ 2: Security and Privacy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Are sensitive contact fields encrypted at rest?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Yes, I encrypt high-risk fields via AES-GCM with Keystore-managed keys.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How is unauthorized read prevented?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Provider entrypoints enforce UID allowlists and permission checks.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Can logs leak phone/email data?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No, telemetry/logging paths use strict PII redaction.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31/33</a:t>
            </a:r>
            <a:endParaRPr lang="en-US" sz="115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FAQ 3: Reliability and Rollout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What if migration fails on a subset of vehicles?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Fallback remains active and migration retries safely on next boot.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How do I rollback quickly in production?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Disable feature flag to route reads to legacy path immediately.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How do I verify rollout safety?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Go/no-go gates enforce latency, sync success, and migration health thresholds.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32/33</a:t>
            </a:r>
            <a:endParaRPr lang="en-US" sz="11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Thank You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Thank you for reviewing my case study.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Happy to answer more detailed implementation or rollout questions.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End of presentation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33/33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se Study Theme">
  <a:themeElements>
    <a:clrScheme name="Case Study">
      <a:dk1>
        <a:srgbClr val="0F172A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D97706"/>
      </a:accent3>
      <a:accent4>
        <a:srgbClr val="0EA5E9"/>
      </a:accent4>
      <a:accent5>
        <a:srgbClr val="DC2626"/>
      </a:accent5>
      <a:accent6>
        <a:srgbClr val="7C3AED"/>
      </a:accent6>
      <a:hlink>
        <a:srgbClr val="2563EB"/>
      </a:hlink>
      <a:folHlink>
        <a:srgbClr val="7C3AED"/>
      </a:folHlink>
    </a:clrScheme>
    <a:fontScheme name="Case Study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Case Study">
      <a:fillStyleLst>
        <a:solidFill>
          <a:schemeClr val="phClr"/>
        </a:solidFill>
        <a:gradFill rotWithShape="1">
          <a:gsLst>
            <a:gs pos="0">
              <a:schemeClr val="phClr">
                <a:satMod val="103000"/>
                <a:lumMod val="102000"/>
              </a:schemeClr>
            </a:gs>
            <a:gs pos="100000">
              <a:schemeClr val="phClr">
                <a:satMod val="99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100000"/>
                <a:sat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100000">
              <a:schemeClr val="phClr">
                <a:tint val="98000"/>
                <a:satMod val="13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33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Case Study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AAOS Persistent Contacts Cache Case Study</dc:title>
  <dc:subject>Approach comparison and recommended architecture</dc:subject>
  <dc:creator>Codex</dc:creator>
  <cp:lastModifiedBy>Codex</cp:lastModifiedBy>
  <dcterms:created xsi:type="dcterms:W3CDTF">2026-02-20T22:46:43Z</dcterms:created>
  <dcterms:modified xsi:type="dcterms:W3CDTF">2026-02-20T22:46:43Z</dcterms:modified>
</cp:coreProperties>
</file>