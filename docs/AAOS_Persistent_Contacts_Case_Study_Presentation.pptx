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12192000" cy="6858000" type="screen16x9"/>
  <p:notesSz cx="6858000" cy="9144000"/>
  <p:defaultTextStyle>
    <a:defPPr/>
    <a:lvl1pPr marL="0" indent="0">
      <a:defRPr sz="1800"/>
    </a:lvl1pPr>
    <a:lvl2pPr marL="457200" indent="0">
      <a:defRPr sz="1600"/>
    </a:lvl2pPr>
    <a:lvl3pPr marL="914400" indent="0">
      <a:defRPr sz="1400"/>
    </a:lvl3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/>
  <p:notesTextViewPr/>
  <p:gridSpacing cx="72008" cy="72008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ableStyles" Target="tableStyles.xml"/>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F8FBFF"/>
            </a:gs>
            <a:gs pos="100000">
              <a:srgbClr val="ECF3FF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3400" b="1"/>
      </a:lvl1pPr>
    </p:titleStyle>
    <p:bodyStyle>
      <a:lvl1pPr marL="0" indent="0">
        <a:defRPr sz="1800"/>
      </a:lvl1pPr>
      <a:lvl2pPr marL="457200" indent="0">
        <a:defRPr sz="1650"/>
      </a:lvl2pPr>
    </p:bodyStyle>
    <p:otherStyle>
      <a:lvl1pPr marL="0" indent="0">
        <a:defRPr sz="1500"/>
      </a:lvl1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.png"/>
</Relationships>
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png"/>
</Relationships>
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png"/>
</Relationships>
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2.png"/>
</Relationships>
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3.png"/>
</Relationships>
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1.png"/>
</Relationships>

</file>

<file path=ppt/slides/_rels/slide1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image4.png"/>
</Relationships>

</file>

<file path=ppt/slides/_rels/slide2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AAOS Persistent Synced Contacts Cache Case Study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70739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725">
                <a:solidFill>
                  <a:srgbClr val="1E293B"/>
                </a:solidFill>
                <a:latin typeface="Aptos"/>
              </a:rPr>
              <a:t>• Project: zweithreads-case-study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Scope: design and implementation options for durable Bluetooth/USB contacts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Outcome: compare approaches, recommend production path, show code evidence</a:t>
            </a:r>
            <a:endParaRPr lang="en-US" sz="1725"/>
          </a:p>
        </p:txBody>
      </p:sp>
      <p:pic>
        <p:nvPicPr>
          <p:cNvPr id="5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800" y="1300000"/>
            <a:ext cx="3850000" cy="2980000"/>
          </a:xfrm>
          <a:prstGeom prst="rect">
            <a:avLst/>
          </a:prstGeom>
          <a:ln w="19050">
            <a:solidFill>
              <a:srgbClr val="C7D2FE"/>
            </a:solidFill>
          </a:ln>
        </p:spPr>
      </p:pic>
      <p:sp>
        <p:nvSpPr>
          <p:cNvPr id="6" name="Image Caption"/>
          <p:cNvSpPr/>
          <p:nvPr/>
        </p:nvSpPr>
        <p:spPr>
          <a:xfrm>
            <a:off x="7797800" y="4375000"/>
            <a:ext cx="38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/>
            <a:r>
              <a:rPr lang="en-US" sz="1225">
                <a:solidFill>
                  <a:srgbClr val="475569"/>
                </a:solidFill>
                <a:latin typeface="Aptos"/>
              </a:rPr>
              <a:t>System inputs and durable cache target</a:t>
            </a:r>
            <a:endParaRPr lang="en-US" sz="1225"/>
          </a:p>
        </p:txBody>
      </p:sp>
      <p:sp>
        <p:nvSpPr>
          <p:cNvPr id="7" name="Footer"/>
          <p:cNvSpPr/>
          <p:nvPr/>
        </p:nvSpPr>
        <p:spPr>
          <a:xfrm>
            <a:off x="457200" y="6464300"/>
            <a:ext cx="860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150">
                <a:solidFill>
                  <a:srgbClr val="475569"/>
                </a:solidFill>
                <a:latin typeface="Aptos"/>
              </a:rPr>
              <a:t>Prepared on February 18, 2026</a:t>
            </a:r>
            <a:endParaRPr lang="en-US" sz="1150"/>
          </a:p>
        </p:txBody>
      </p:sp>
      <p:sp>
        <p:nvSpPr>
          <p:cNvPr id="8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1/27</a:t>
            </a:r>
            <a:endParaRPr lang="en-US" sz="115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Quick Start (Plain English)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This deck is about one simple problem: saved phone contacts disappear too easily.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Today, contacts are often kept only in temporary memory.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If the car restarts or the phone disconnects, users wait for contacts again.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Our goal is to keep contacts ready so the UI opens fast every time.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Think of it as moving from sticky notes to a proper filing cabinet.</a:t>
            </a:r>
            <a:endParaRPr lang="en-US" sz="1825"/>
          </a:p>
        </p:txBody>
      </p:sp>
      <p:sp>
        <p:nvSpPr>
          <p:cNvPr id="5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2/27</a:t>
            </a:r>
            <a:endParaRPr lang="en-US" sz="115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Why This Matters to Drivers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70739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725">
                <a:solidFill>
                  <a:srgbClr val="1E293B"/>
                </a:solidFill>
                <a:latin typeface="Aptos"/>
              </a:rPr>
              <a:t>• Calling a contact should feel instant, not delayed by another sync.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Frequent re-sync can feel unreliable during short trips.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A stable cache means fewer surprises after reboot or reconnect.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Better reliability also reduces unnecessary Bluetooth/USB traffic.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Simple user expectation: 'my contacts should still be there.'</a:t>
            </a:r>
            <a:endParaRPr lang="en-US" sz="1725"/>
          </a:p>
        </p:txBody>
      </p:sp>
      <p:pic>
        <p:nvPicPr>
          <p:cNvPr id="5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800" y="1300000"/>
            <a:ext cx="3850000" cy="2980000"/>
          </a:xfrm>
          <a:prstGeom prst="rect">
            <a:avLst/>
          </a:prstGeom>
          <a:ln w="19050">
            <a:solidFill>
              <a:srgbClr val="C7D2FE"/>
            </a:solidFill>
          </a:ln>
        </p:spPr>
      </p:pic>
      <p:sp>
        <p:nvSpPr>
          <p:cNvPr id="6" name="Image Caption"/>
          <p:cNvSpPr/>
          <p:nvPr/>
        </p:nvSpPr>
        <p:spPr>
          <a:xfrm>
            <a:off x="7797800" y="4375000"/>
            <a:ext cx="38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/>
            <a:r>
              <a:rPr lang="en-US" sz="1225">
                <a:solidFill>
                  <a:srgbClr val="475569"/>
                </a:solidFill>
                <a:latin typeface="Aptos"/>
              </a:rPr>
              <a:t>User-visible pain comes from volatile in-memory state</a:t>
            </a:r>
            <a:endParaRPr lang="en-US" sz="1225"/>
          </a:p>
        </p:txBody>
      </p:sp>
      <p:sp>
        <p:nvSpPr>
          <p:cNvPr id="7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3/27</a:t>
            </a:r>
            <a:endParaRPr lang="en-US" sz="11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Current Flow (Today)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70739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725">
                <a:solidFill>
                  <a:srgbClr val="1E293B"/>
                </a:solidFill>
                <a:latin typeface="Aptos"/>
              </a:rPr>
              <a:t>1. Phone connects and sends contacts to the head unit.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2. Contacts are available while process and session stay alive.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3. Reboot/disconnect/process death clears that temporary state.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4. System must fetch everything again on the next session.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Result: slow restart and repeated network/sync work.</a:t>
            </a:r>
            <a:endParaRPr lang="en-US" sz="1725"/>
          </a:p>
        </p:txBody>
      </p:sp>
      <p:pic>
        <p:nvPicPr>
          <p:cNvPr id="5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800" y="1300000"/>
            <a:ext cx="3850000" cy="2980000"/>
          </a:xfrm>
          <a:prstGeom prst="rect">
            <a:avLst/>
          </a:prstGeom>
          <a:ln w="19050">
            <a:solidFill>
              <a:srgbClr val="C7D2FE"/>
            </a:solidFill>
          </a:ln>
        </p:spPr>
      </p:pic>
      <p:sp>
        <p:nvSpPr>
          <p:cNvPr id="6" name="Image Caption"/>
          <p:cNvSpPr/>
          <p:nvPr/>
        </p:nvSpPr>
        <p:spPr>
          <a:xfrm>
            <a:off x="7797800" y="4375000"/>
            <a:ext cx="38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/>
            <a:r>
              <a:rPr lang="en-US" sz="1225">
                <a:solidFill>
                  <a:srgbClr val="475569"/>
                </a:solidFill>
                <a:latin typeface="Aptos"/>
              </a:rPr>
              <a:t>Current path is fragile across restarts</a:t>
            </a:r>
            <a:endParaRPr lang="en-US" sz="1225"/>
          </a:p>
        </p:txBody>
      </p:sp>
      <p:sp>
        <p:nvSpPr>
          <p:cNvPr id="7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4/27</a:t>
            </a:r>
            <a:endParaRPr lang="en-US" sz="11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Desired Flow (After Fix)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70739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725">
                <a:solidFill>
                  <a:srgbClr val="1E293B"/>
                </a:solidFill>
                <a:latin typeface="Aptos"/>
              </a:rPr>
              <a:t>1. Phone sync still happens, but data is also stored durably.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2. On reboot, the system loads cached contacts immediately.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3. Next sync sends only changes, not the full dataset each time.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4. Users get fast contact access even before full background sync.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Result: smoother UX, less repeated work, stronger reliability.</a:t>
            </a:r>
            <a:endParaRPr lang="en-US" sz="1725"/>
          </a:p>
        </p:txBody>
      </p:sp>
      <p:pic>
        <p:nvPicPr>
          <p:cNvPr id="5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800" y="1300000"/>
            <a:ext cx="3850000" cy="2980000"/>
          </a:xfrm>
          <a:prstGeom prst="rect">
            <a:avLst/>
          </a:prstGeom>
          <a:ln w="19050">
            <a:solidFill>
              <a:srgbClr val="C7D2FE"/>
            </a:solidFill>
          </a:ln>
        </p:spPr>
      </p:pic>
      <p:sp>
        <p:nvSpPr>
          <p:cNvPr id="6" name="Image Caption"/>
          <p:cNvSpPr/>
          <p:nvPr/>
        </p:nvSpPr>
        <p:spPr>
          <a:xfrm>
            <a:off x="7797800" y="4375000"/>
            <a:ext cx="38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/>
            <a:r>
              <a:rPr lang="en-US" sz="1225">
                <a:solidFill>
                  <a:srgbClr val="475569"/>
                </a:solidFill>
                <a:latin typeface="Aptos"/>
              </a:rPr>
              <a:t>Durable cache keeps contacts ready between sessions</a:t>
            </a:r>
            <a:endParaRPr lang="en-US" sz="1225"/>
          </a:p>
        </p:txBody>
      </p:sp>
      <p:sp>
        <p:nvSpPr>
          <p:cNvPr id="7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5/27</a:t>
            </a:r>
            <a:endParaRPr lang="en-US" sz="11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Decision in One Slide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70739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725">
                <a:solidFill>
                  <a:srgbClr val="1E293B"/>
                </a:solidFill>
                <a:latin typeface="Aptos"/>
              </a:rPr>
              <a:t>• We evaluated three storage options: SQLite, JSON files, event log.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SQLite gives the best balance for speed, safety, and maintainability.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JSON is simple but slows down and rewrites too much at scale.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Event log is great for audit history but adds read complexity.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So the recommendation is SQLite + WAL + sync metadata.</a:t>
            </a:r>
            <a:endParaRPr lang="en-US" sz="1725"/>
          </a:p>
        </p:txBody>
      </p:sp>
      <p:pic>
        <p:nvPicPr>
          <p:cNvPr id="5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800" y="1300000"/>
            <a:ext cx="3850000" cy="2980000"/>
          </a:xfrm>
          <a:prstGeom prst="rect">
            <a:avLst/>
          </a:prstGeom>
          <a:ln w="19050">
            <a:solidFill>
              <a:srgbClr val="C7D2FE"/>
            </a:solidFill>
          </a:ln>
        </p:spPr>
      </p:pic>
      <p:sp>
        <p:nvSpPr>
          <p:cNvPr id="6" name="Image Caption"/>
          <p:cNvSpPr/>
          <p:nvPr/>
        </p:nvSpPr>
        <p:spPr>
          <a:xfrm>
            <a:off x="7797800" y="4375000"/>
            <a:ext cx="38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/>
            <a:r>
              <a:rPr lang="en-US" sz="1225">
                <a:solidFill>
                  <a:srgbClr val="475569"/>
                </a:solidFill>
                <a:latin typeface="Aptos"/>
              </a:rPr>
              <a:t>SQLite is the best practical fit for production</a:t>
            </a:r>
            <a:endParaRPr lang="en-US" sz="1225"/>
          </a:p>
        </p:txBody>
      </p:sp>
      <p:sp>
        <p:nvSpPr>
          <p:cNvPr id="7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6/27</a:t>
            </a:r>
            <a:endParaRPr lang="en-US" sz="115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Simple Terms Used in This Deck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Cache: saved copy of contacts used for fast reads.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Full sync: complete contact list from the phone.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Delta sync: only what changed since last sync.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WAL (Write-Ahead Logging): SQLite mode for safe concurrent reads/writes.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Soft delete: mark removed first, physically purge later.</a:t>
            </a:r>
            <a:endParaRPr lang="en-US" sz="1825"/>
          </a:p>
        </p:txBody>
      </p:sp>
      <p:sp>
        <p:nvSpPr>
          <p:cNvPr id="5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7/27</a:t>
            </a:r>
            <a:endParaRPr lang="en-US" sz="115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Presentation Roadmap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0. Quick plain-English walkthrough (new)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1. Problem and system constraints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2. Approach comparison with pros and cons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3. Deep dive on recommended SQLite + WAL architecture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4. Code snippets from repository implementation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5. Libraries, concepts, testing, rollout, and references</a:t>
            </a:r>
            <a:endParaRPr lang="en-US" sz="1825"/>
          </a:p>
        </p:txBody>
      </p:sp>
      <p:sp>
        <p:nvSpPr>
          <p:cNvPr id="5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8/27</a:t>
            </a:r>
            <a:endParaRPr lang="en-US" sz="11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Problem Context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70739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725">
                <a:solidFill>
                  <a:srgbClr val="1E293B"/>
                </a:solidFill>
                <a:latin typeface="Aptos"/>
              </a:rPr>
              <a:t>• Current AAOS flow keeps synced contacts only in memory.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On reboot/process death/disconnect, contact state is lost.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Users see cold-start delays because full re-sync is required.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Repeated sync traffic adds avoidable load and battery impact.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Goal: make contacts instantly available after restart while staying correct.</a:t>
            </a:r>
            <a:endParaRPr lang="en-US" sz="1725"/>
          </a:p>
        </p:txBody>
      </p:sp>
      <p:pic>
        <p:nvPicPr>
          <p:cNvPr id="5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800" y="1300000"/>
            <a:ext cx="3850000" cy="2980000"/>
          </a:xfrm>
          <a:prstGeom prst="rect">
            <a:avLst/>
          </a:prstGeom>
          <a:ln w="19050">
            <a:solidFill>
              <a:srgbClr val="C7D2FE"/>
            </a:solidFill>
          </a:ln>
        </p:spPr>
      </p:pic>
      <p:sp>
        <p:nvSpPr>
          <p:cNvPr id="6" name="Image Caption"/>
          <p:cNvSpPr/>
          <p:nvPr/>
        </p:nvSpPr>
        <p:spPr>
          <a:xfrm>
            <a:off x="7797800" y="4375000"/>
            <a:ext cx="38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/>
            <a:r>
              <a:rPr lang="en-US" sz="1225">
                <a:solidFill>
                  <a:srgbClr val="475569"/>
                </a:solidFill>
                <a:latin typeface="Aptos"/>
              </a:rPr>
              <a:t>Volatile state creates restart and reliability pain</a:t>
            </a:r>
            <a:endParaRPr lang="en-US" sz="1225"/>
          </a:p>
        </p:txBody>
      </p:sp>
      <p:sp>
        <p:nvSpPr>
          <p:cNvPr id="7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9/27</a:t>
            </a:r>
            <a:endParaRPr lang="en-US" sz="115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Objectives and Constraints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Persist contacts across reboot and temporary phone disconnects.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Serve list/search quickly without mandatory online sync.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Support full and delta sync while preventing stale updates.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Handle multi-device pairing safely with source isolation.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Enforce privacy and UID-based access control in provider layer.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Keep migration safe for existing users during platform upgrades.</a:t>
            </a:r>
            <a:endParaRPr lang="en-US" sz="1825"/>
          </a:p>
        </p:txBody>
      </p:sp>
      <p:sp>
        <p:nvSpPr>
          <p:cNvPr id="5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10/27</a:t>
            </a:r>
            <a:endParaRPr lang="en-US" sz="115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Approaches Compared (High Level)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Approach 1 (SQLite + WAL + sync metadata): best fit for AAOS provider patterns.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Approach 2 (JSON snapshot files): simple implementation but weak scalability.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Approach 3 (append-only event log): strong audit trail but costly read path.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Recommendation: Approach 1 for production vehicle deployments.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Tradeoff accepted: higher schema/migration work in exchange for reliability and speed.</a:t>
            </a:r>
            <a:endParaRPr lang="en-US" sz="1825"/>
          </a:p>
        </p:txBody>
      </p:sp>
      <p:sp>
        <p:nvSpPr>
          <p:cNvPr id="5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11/27</a:t>
            </a:r>
            <a:endParaRPr lang="en-US" sz="115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Approach 2: JSON Snapshot Cache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2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Storage model: one full JSON file per source device.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Pros: smallest code surface, easy to inspect manually.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Cons: every sync rewrites full payload, no transactional guarantees.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Cons: read/search requires file parsing instead of indexed lookup.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Verdict: useful for prototype demos only, not production AAOS.</a:t>
            </a:r>
            <a:endParaRPr lang="en-US" sz="1825"/>
          </a:p>
        </p:txBody>
      </p:sp>
      <p:sp>
        <p:nvSpPr>
          <p:cNvPr id="5" name="Code"/>
          <p:cNvSpPr/>
          <p:nvPr/>
        </p:nvSpPr>
        <p:spPr>
          <a:xfrm>
            <a:off x="457200" y="3379000"/>
            <a:ext cx="11277600" cy="2920000"/>
          </a:xfrm>
          <a:prstGeom prst="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txBody>
          <a:bodyPr wrap="square" lIns="91440" tIns="45720" rIns="91440" bIns="45720" anchor="t"/>
          <a:lstStyle/>
          <a:p>
            <a:r>
              <a:rPr lang="en-US" sz="1400" b="1">
                <a:solidFill>
                  <a:srgbClr val="BFDBFE"/>
                </a:solidFill>
                <a:latin typeface="Aptos"/>
              </a:rPr>
              <a:t>Snippet: approaches/02_json_snapshot_cache/.../JsonSnapshotCache.java</a:t>
            </a:r>
            <a:endParaRPr lang="en-US" sz="1400"/>
          </a:p>
          <a:p>
            <a:endParaRPr lang="en-US" sz="800"/>
          </a:p>
          <a:p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public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void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writeSnapshot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sourceDevice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List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&lt;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Map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&lt;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&gt;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&gt;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contacts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throws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IOException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{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Files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createDirectories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rootDir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Path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out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=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rootDir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resolve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safeName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sourceDevice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+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86EFAC"/>
                </a:solidFill>
                <a:latin typeface="Cascadia Code"/>
              </a:rPr>
              <a:t xml:space="preserve">".json"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 i="1">
                <a:solidFill>
                  <a:srgbClr val="94A3B8"/>
                </a:solidFill>
                <a:latin typeface="Cascadia Code"/>
              </a:rPr>
              <a:t xml:space="preserve">// builds entire JSON payload in-memory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Files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writeString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out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json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toString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StandardCharsets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UTF_8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}</a:t>
            </a:r>
            <a:endParaRPr lang="en-US" sz="1200"/>
          </a:p>
        </p:txBody>
      </p:sp>
      <p:sp>
        <p:nvSpPr>
          <p:cNvPr id="6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12/27</a:t>
            </a:r>
            <a:endParaRPr lang="en-US" sz="11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Approach 3: Append-Only Event Log Cache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2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Storage model: append upsert/delete events in NDJSON stream.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Pros: excellent auditability and sequential durable writes.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Cons: query path depends on replay or compaction strategy.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Cons: operational complexity rises with log growth.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Verdict: niche choice for audit-first systems, not default AAOS path.</a:t>
            </a:r>
            <a:endParaRPr lang="en-US" sz="1825"/>
          </a:p>
        </p:txBody>
      </p:sp>
      <p:sp>
        <p:nvSpPr>
          <p:cNvPr id="5" name="Code"/>
          <p:cNvSpPr/>
          <p:nvPr/>
        </p:nvSpPr>
        <p:spPr>
          <a:xfrm>
            <a:off x="457200" y="3379000"/>
            <a:ext cx="11277600" cy="2920000"/>
          </a:xfrm>
          <a:prstGeom prst="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txBody>
          <a:bodyPr wrap="square" lIns="91440" tIns="45720" rIns="91440" bIns="45720" anchor="t"/>
          <a:lstStyle/>
          <a:p>
            <a:r>
              <a:rPr lang="en-US" sz="1400" b="1">
                <a:solidFill>
                  <a:srgbClr val="BFDBFE"/>
                </a:solidFill>
                <a:latin typeface="Aptos"/>
              </a:rPr>
              <a:t>Snippet: approaches/03_event_log_cache/.../EventLogCache.java</a:t>
            </a:r>
            <a:endParaRPr lang="en-US" sz="1400"/>
          </a:p>
          <a:p>
            <a:endParaRPr lang="en-US" sz="800"/>
          </a:p>
          <a:p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private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void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appendEvent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sourceDevice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type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externalContactId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payloadJson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   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throws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IOException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{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Files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createDirectories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rootDir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Path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file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=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rootDir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resolve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safeName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sourceDevice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+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86EFAC"/>
                </a:solidFill>
                <a:latin typeface="Cascadia Code"/>
              </a:rPr>
              <a:t xml:space="preserve">".events.ndjson"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Files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writeString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file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event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StandardCharsets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UTF_8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CREATE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APPEND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}</a:t>
            </a:r>
            <a:endParaRPr lang="en-US" sz="1200"/>
          </a:p>
        </p:txBody>
      </p:sp>
      <p:sp>
        <p:nvSpPr>
          <p:cNvPr id="6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13/27</a:t>
            </a:r>
            <a:endParaRPr lang="en-US" sz="11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Why Approach 1 Is Recommended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70739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725">
                <a:solidFill>
                  <a:srgbClr val="1E293B"/>
                </a:solidFill>
                <a:latin typeface="Aptos"/>
              </a:rPr>
              <a:t>• Fast indexed reads for contact list/search/autocomplete.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Transactional correctness for full/delta sync batches.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WAL supports concurrent reads during sync writes.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Natural migration model via SQLiteOpenHelper DB versions.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Strong AAOS/AOSP compatibility with ContactsProvider patterns.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Main cost: upfront schema and migration engineering effort.</a:t>
            </a:r>
            <a:endParaRPr lang="en-US" sz="1725"/>
          </a:p>
        </p:txBody>
      </p:sp>
      <p:pic>
        <p:nvPicPr>
          <p:cNvPr id="5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800" y="1300000"/>
            <a:ext cx="3850000" cy="2980000"/>
          </a:xfrm>
          <a:prstGeom prst="rect">
            <a:avLst/>
          </a:prstGeom>
          <a:ln w="19050">
            <a:solidFill>
              <a:srgbClr val="C7D2FE"/>
            </a:solidFill>
          </a:ln>
        </p:spPr>
      </p:pic>
      <p:sp>
        <p:nvSpPr>
          <p:cNvPr id="6" name="Image Caption"/>
          <p:cNvSpPr/>
          <p:nvPr/>
        </p:nvSpPr>
        <p:spPr>
          <a:xfrm>
            <a:off x="7797800" y="4375000"/>
            <a:ext cx="38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/>
            <a:r>
              <a:rPr lang="en-US" sz="1225">
                <a:solidFill>
                  <a:srgbClr val="475569"/>
                </a:solidFill>
                <a:latin typeface="Aptos"/>
              </a:rPr>
              <a:t>Approach 1 balances performance, correctness, and fit</a:t>
            </a:r>
            <a:endParaRPr lang="en-US" sz="1225"/>
          </a:p>
        </p:txBody>
      </p:sp>
      <p:sp>
        <p:nvSpPr>
          <p:cNvPr id="7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14/27</a:t>
            </a:r>
            <a:endParaRPr lang="en-US" sz="115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Recommended Architecture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2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Source adapters (PBAP/USB) normalize incoming contacts.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ContactSyncEngine applies full or delta sync rules.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ContactsCacheStore abstracts transactional persistence.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SQLite tables store contacts plus per-device sync_state metadata.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Read APIs query active contacts (deleted=0) through indexes.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Retention worker purges old soft-deleted rows asynchronously.</a:t>
            </a:r>
            <a:endParaRPr lang="en-US" sz="1825"/>
          </a:p>
        </p:txBody>
      </p:sp>
      <p:sp>
        <p:nvSpPr>
          <p:cNvPr id="5" name="Code"/>
          <p:cNvSpPr/>
          <p:nvPr/>
        </p:nvSpPr>
        <p:spPr>
          <a:xfrm>
            <a:off x="457200" y="3379000"/>
            <a:ext cx="11277600" cy="2920000"/>
          </a:xfrm>
          <a:prstGeom prst="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txBody>
          <a:bodyPr wrap="square" lIns="91440" tIns="45720" rIns="91440" bIns="45720" anchor="t"/>
          <a:lstStyle/>
          <a:p>
            <a:r>
              <a:rPr lang="en-US" sz="1400" b="1">
                <a:solidFill>
                  <a:srgbClr val="BFDBFE"/>
                </a:solidFill>
                <a:latin typeface="Aptos"/>
              </a:rPr>
              <a:t>Flow</a:t>
            </a:r>
            <a:endParaRPr lang="en-US" sz="1400"/>
          </a:p>
          <a:p>
            <a:endParaRPr lang="en-US" sz="800"/>
          </a:p>
          <a:p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PBAP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/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USB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adapters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-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&gt;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ContactSyncEngine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normalize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dedupe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sequence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checks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-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&gt;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ContactsCacheStore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transaction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-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&gt;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synced_contacts_cache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table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-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&gt;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synced_contacts_sync_state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table</a:t>
            </a:r>
            <a:endParaRPr lang="en-US" sz="1200"/>
          </a:p>
          <a:p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Provider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query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APIs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-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&gt;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indexed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reads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for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UI</a:t>
            </a:r>
            <a:endParaRPr lang="en-US" sz="1200"/>
          </a:p>
          <a:p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Retention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job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-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&gt;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purge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tombstones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after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retention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window</a:t>
            </a:r>
            <a:endParaRPr lang="en-US" sz="1200"/>
          </a:p>
        </p:txBody>
      </p:sp>
      <p:sp>
        <p:nvSpPr>
          <p:cNvPr id="6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15/27</a:t>
            </a:r>
            <a:endParaRPr lang="en-US" sz="115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Data Model and Index Design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2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Primary key: (source_device, external_contact_id) for multi-device isolation.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contact fields include display data, phones_json, emails_json, versions, timestamps, deleted.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sync_state keeps last_full_sync_ms, token, source sequence, schema version.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Index 1: (source_device, deleted, display_name) for query speed.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Index 2: (source_device, local_updated_ms) for retention scans.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Index 3: (source_device, source_version, source_last_modified_ms) for version guards.</a:t>
            </a:r>
            <a:endParaRPr lang="en-US" sz="1825"/>
          </a:p>
        </p:txBody>
      </p:sp>
      <p:sp>
        <p:nvSpPr>
          <p:cNvPr id="5" name="Code"/>
          <p:cNvSpPr/>
          <p:nvPr/>
        </p:nvSpPr>
        <p:spPr>
          <a:xfrm>
            <a:off x="457200" y="3379000"/>
            <a:ext cx="11277600" cy="2920000"/>
          </a:xfrm>
          <a:prstGeom prst="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txBody>
          <a:bodyPr wrap="square" lIns="91440" tIns="45720" rIns="91440" bIns="45720" anchor="t"/>
          <a:lstStyle/>
          <a:p>
            <a:r>
              <a:rPr lang="en-US" sz="1400" b="1">
                <a:solidFill>
                  <a:srgbClr val="BFDBFE"/>
                </a:solidFill>
                <a:latin typeface="Aptos"/>
              </a:rPr>
              <a:t>Snippet: approaches/01_sqlite_wal_cache/.../ContactsCacheDatabaseHelper.java</a:t>
            </a:r>
            <a:endParaRPr lang="en-US" sz="1400"/>
          </a:p>
          <a:p>
            <a:endParaRPr lang="en-US" sz="800"/>
          </a:p>
          <a:p>
            <a:r>
              <a:rPr lang="en-US" sz="1200" b="1">
                <a:solidFill>
                  <a:srgbClr val="F0ABFC"/>
                </a:solidFill>
                <a:latin typeface="Cascadia Code"/>
              </a:rPr>
              <a:t xml:space="preserve">@Override</a:t>
            </a:r>
            <a:endParaRPr lang="en-US" sz="1200"/>
          </a:p>
          <a:p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public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void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onConfigure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SQLiteDatabase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db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{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db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setForeignKeyConstraintsEnabled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 b="1">
                <a:solidFill>
                  <a:srgbClr val="FCA5A5"/>
                </a:solidFill>
                <a:latin typeface="Cascadia Code"/>
              </a:rPr>
              <a:t xml:space="preserve">true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db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enableWriteAheadLogging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db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execSQL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86EFAC"/>
                </a:solidFill>
                <a:latin typeface="Cascadia Code"/>
              </a:rPr>
              <a:t xml:space="preserve">"PRAGMA synchronous=NORMAL"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}</a:t>
            </a:r>
            <a:endParaRPr lang="en-US" sz="1200"/>
          </a:p>
        </p:txBody>
      </p:sp>
      <p:sp>
        <p:nvSpPr>
          <p:cNvPr id="6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16/27</a:t>
            </a:r>
            <a:endParaRPr lang="en-US" sz="115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Sync Lifecycle: Full, Delta, and Sequence Safety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2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Full sync: dedupe incoming records, upsert all, delete missing only on complete snapshot.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Delta sync: upsert changed/new, apply explicit deletions.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Conflict rule: source_version is authoritative; stale updates are ignored.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Sequence rule: reject sourceSyncSequence regressions unless recovery is allowed.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Outcome metrics include inserted/updated/deleted/stale/invalidDropped.</a:t>
            </a:r>
            <a:endParaRPr lang="en-US" sz="1825"/>
          </a:p>
        </p:txBody>
      </p:sp>
      <p:sp>
        <p:nvSpPr>
          <p:cNvPr id="5" name="Code"/>
          <p:cNvSpPr/>
          <p:nvPr/>
        </p:nvSpPr>
        <p:spPr>
          <a:xfrm>
            <a:off x="457200" y="3379000"/>
            <a:ext cx="11277600" cy="2920000"/>
          </a:xfrm>
          <a:prstGeom prst="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txBody>
          <a:bodyPr wrap="square" lIns="91440" tIns="45720" rIns="91440" bIns="45720" anchor="t"/>
          <a:lstStyle/>
          <a:p>
            <a:r>
              <a:rPr lang="en-US" sz="1400" b="1">
                <a:solidFill>
                  <a:srgbClr val="BFDBFE"/>
                </a:solidFill>
                <a:latin typeface="Aptos"/>
              </a:rPr>
              <a:t>Snippet: approaches/01_sqlite_wal_cache/.../ContactSyncEngine.java</a:t>
            </a:r>
            <a:endParaRPr lang="en-US" sz="1400"/>
          </a:p>
          <a:p>
            <a:endParaRPr lang="en-US" sz="800"/>
          </a:p>
          <a:p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if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resolvedMetadata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isCompleteSnapshot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{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deleted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=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store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markMissingDeleted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normalizedSource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liveIds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nowMs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}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store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upsertSyncState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normalizedSource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nowMs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resolvedMetadata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getSyncToken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resolvedMetadata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getSourceSyncSequence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CACHE_SCHEMA_VERSION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</p:txBody>
      </p:sp>
      <p:sp>
        <p:nvSpPr>
          <p:cNvPr id="6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17/27</a:t>
            </a:r>
            <a:endParaRPr lang="en-US" sz="11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Stale Update Protection in Store Layer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2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Store rejects outdated payloads before touching durable state.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Same-version but older timestamp is also ignored.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This prevents late/out-of-order source data from corrupting cache.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Result category STALE_IGNORED is surfaced in sync summary metrics.</a:t>
            </a:r>
            <a:endParaRPr lang="en-US" sz="1825"/>
          </a:p>
        </p:txBody>
      </p:sp>
      <p:sp>
        <p:nvSpPr>
          <p:cNvPr id="5" name="Code"/>
          <p:cNvSpPr/>
          <p:nvPr/>
        </p:nvSpPr>
        <p:spPr>
          <a:xfrm>
            <a:off x="457200" y="3379000"/>
            <a:ext cx="11277600" cy="2920000"/>
          </a:xfrm>
          <a:prstGeom prst="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txBody>
          <a:bodyPr wrap="square" lIns="91440" tIns="45720" rIns="91440" bIns="45720" anchor="t"/>
          <a:lstStyle/>
          <a:p>
            <a:r>
              <a:rPr lang="en-US" sz="1400" b="1">
                <a:solidFill>
                  <a:srgbClr val="BFDBFE"/>
                </a:solidFill>
                <a:latin typeface="Aptos"/>
              </a:rPr>
              <a:t>Snippet: approaches/01_sqlite_wal_cache/.../SqliteContactsCacheStore.java</a:t>
            </a:r>
            <a:endParaRPr lang="en-US" sz="1400"/>
          </a:p>
          <a:p>
            <a:endParaRPr lang="en-US" sz="800"/>
          </a:p>
          <a:p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if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payload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getSourceVersion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&lt;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existing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sourceVersion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{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return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UpsertOutcome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STALE_IGNORED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}</a:t>
            </a:r>
            <a:endParaRPr lang="en-US" sz="1200"/>
          </a:p>
          <a:p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if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payload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getSourceVersion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=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=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existing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sourceVersion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&amp;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&amp;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payload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getSourceLastModifiedMs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&lt;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existing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sourceLastModifiedMs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{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return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UpsertOutcome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STALE_IGNORED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}</a:t>
            </a:r>
            <a:endParaRPr lang="en-US" sz="1200"/>
          </a:p>
        </p:txBody>
      </p:sp>
      <p:sp>
        <p:nvSpPr>
          <p:cNvPr id="6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18/27</a:t>
            </a:r>
            <a:endParaRPr lang="en-US" sz="115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Security and Privacy Controls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2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Provider entrypoints should enforce UID and permission checks.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Read and write UID sets can be separated by policy.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Logs and telemetry should avoid raw phone/email payloads.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FBE-backed userdata gives baseline at-rest protection.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Optional stronger encryption can be added for strict OEM policy.</a:t>
            </a:r>
            <a:endParaRPr lang="en-US" sz="1825"/>
          </a:p>
        </p:txBody>
      </p:sp>
      <p:sp>
        <p:nvSpPr>
          <p:cNvPr id="5" name="Code"/>
          <p:cNvSpPr/>
          <p:nvPr/>
        </p:nvSpPr>
        <p:spPr>
          <a:xfrm>
            <a:off x="457200" y="3379000"/>
            <a:ext cx="11277600" cy="2920000"/>
          </a:xfrm>
          <a:prstGeom prst="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txBody>
          <a:bodyPr wrap="square" lIns="91440" tIns="45720" rIns="91440" bIns="45720" anchor="t"/>
          <a:lstStyle/>
          <a:p>
            <a:r>
              <a:rPr lang="en-US" sz="1400" b="1">
                <a:solidFill>
                  <a:srgbClr val="BFDBFE"/>
                </a:solidFill>
                <a:latin typeface="Aptos"/>
              </a:rPr>
              <a:t>Snippet: access enforcement and PII redaction</a:t>
            </a:r>
            <a:endParaRPr lang="en-US" sz="1400"/>
          </a:p>
          <a:p>
            <a:endParaRPr lang="en-US" sz="800"/>
          </a:p>
          <a:p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public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void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enforceReadAccess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{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int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uid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=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callingUidProvider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getCallingUid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if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!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allowedReadUids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contains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uid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{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   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throw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new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SecurityException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86EFAC"/>
                </a:solidFill>
                <a:latin typeface="Cascadia Code"/>
              </a:rPr>
              <a:t xml:space="preserve">"UID not authorized to read cache"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}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}</a:t>
            </a:r>
            <a:endParaRPr lang="en-US" sz="1200"/>
          </a:p>
          <a:p>
            <a:endParaRPr lang="en-US" sz="1200"/>
          </a:p>
          <a:p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redacted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=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PiiRedaction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redactPhone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86EFAC"/>
                </a:solidFill>
                <a:latin typeface="Cascadia Code"/>
              </a:rPr>
              <a:t xml:space="preserve">"+1 555-0102"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 i="1">
                <a:solidFill>
                  <a:srgbClr val="94A3B8"/>
                </a:solidFill>
                <a:latin typeface="Cascadia Code"/>
              </a:rPr>
              <a:t xml:space="preserve">// ******0102</a:t>
            </a:r>
            <a:endParaRPr lang="en-US" sz="1200"/>
          </a:p>
        </p:txBody>
      </p:sp>
      <p:sp>
        <p:nvSpPr>
          <p:cNvPr id="6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19/27</a:t>
            </a:r>
            <a:endParaRPr lang="en-US" sz="11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Performance and Reliability Strategy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WAL mode keeps reads responsive during write-heavy sync batches.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One transaction per sync batch avoids partial state commits.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Soft-delete first, purge later: safer than immediate hard delete.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Partial snapshot mode prevents accidental mass deletions.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Quota limits and input normalization protect against bad payloads.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Corruption recovery path: reset cache tables and trigger full sync.</a:t>
            </a:r>
            <a:endParaRPr lang="en-US" sz="1825"/>
          </a:p>
        </p:txBody>
      </p:sp>
      <p:sp>
        <p:nvSpPr>
          <p:cNvPr id="5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20/27</a:t>
            </a:r>
            <a:endParaRPr lang="en-US" sz="115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Testing Evidence in Repository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2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JVM tests validate core logic without Android runtime dependency.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Integration tests validate real SQLite behavior on Android runtime.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Covered scenarios: persistence after reopen, delta conflicts, sequence regression.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Migration test verifies v1-&gt;v2 index creation and WAL mode.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Access enforcer tests verify authorization failures and allowed paths.</a:t>
            </a:r>
            <a:endParaRPr lang="en-US" sz="1825"/>
          </a:p>
        </p:txBody>
      </p:sp>
      <p:sp>
        <p:nvSpPr>
          <p:cNvPr id="5" name="Code"/>
          <p:cNvSpPr/>
          <p:nvPr/>
        </p:nvSpPr>
        <p:spPr>
          <a:xfrm>
            <a:off x="457200" y="3379000"/>
            <a:ext cx="11277600" cy="2920000"/>
          </a:xfrm>
          <a:prstGeom prst="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txBody>
          <a:bodyPr wrap="square" lIns="91440" tIns="45720" rIns="91440" bIns="45720" anchor="t"/>
          <a:lstStyle/>
          <a:p>
            <a:r>
              <a:rPr lang="en-US" sz="1400" b="1">
                <a:solidFill>
                  <a:srgbClr val="BFDBFE"/>
                </a:solidFill>
                <a:latin typeface="Aptos"/>
              </a:rPr>
              <a:t>Snippet: instrumentation migration validation</a:t>
            </a:r>
            <a:endParaRPr lang="en-US" sz="1400"/>
          </a:p>
          <a:p>
            <a:endParaRPr lang="en-US" sz="800"/>
          </a:p>
          <a:p>
            <a:r>
              <a:rPr lang="en-US" sz="1200" b="1">
                <a:solidFill>
                  <a:srgbClr val="93C5FD"/>
                </a:solidFill>
                <a:latin typeface="Cascadia Code"/>
              </a:rPr>
              <a:t xml:space="preserve">try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Cursor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cursor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=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db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rawQuery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86EFAC"/>
                </a:solidFill>
                <a:latin typeface="Cascadia Code"/>
              </a:rPr>
              <a:t xml:space="preserve">"PRAGMA journal_mode"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 b="1">
                <a:solidFill>
                  <a:srgbClr val="FCA5A5"/>
                </a:solidFill>
                <a:latin typeface="Cascadia Code"/>
              </a:rPr>
              <a:t xml:space="preserve">null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{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assertTrue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cursor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moveToFirst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mode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=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cursor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getString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FDBA74"/>
                </a:solidFill>
                <a:latin typeface="Cascadia Code"/>
              </a:rPr>
              <a:t xml:space="preserve">0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   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assertEquals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86EFAC"/>
                </a:solidFill>
                <a:latin typeface="Cascadia Code"/>
              </a:rPr>
              <a:t xml:space="preserve">"wal"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mode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toLowerCase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  <a:p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}</a:t>
            </a:r>
            <a:endParaRPr lang="en-US" sz="1200"/>
          </a:p>
          <a:p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assertTrue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C4B5FD"/>
                </a:solidFill>
                <a:latin typeface="Cascadia Code"/>
              </a:rPr>
              <a:t xml:space="preserve">hasIndex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(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db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,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 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ContactsCacheContract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.</a:t>
            </a:r>
            <a:r>
              <a:rPr lang="en-US" sz="1200">
                <a:solidFill>
                  <a:srgbClr val="67E8F9"/>
                </a:solidFill>
                <a:latin typeface="Cascadia Code"/>
              </a:rPr>
              <a:t xml:space="preserve">INDEX_SOURCE_VERSION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)</a:t>
            </a:r>
            <a:r>
              <a:rPr lang="en-US" sz="1200">
                <a:solidFill>
                  <a:srgbClr val="E2E8F0"/>
                </a:solidFill>
                <a:latin typeface="Cascadia Code"/>
              </a:rPr>
              <a:t xml:space="preserve">;</a:t>
            </a:r>
            <a:endParaRPr lang="en-US" sz="1200"/>
          </a:p>
        </p:txBody>
      </p:sp>
      <p:sp>
        <p:nvSpPr>
          <p:cNvPr id="6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21/27</a:t>
            </a:r>
            <a:endParaRPr lang="en-US" sz="11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Libraries and Concepts Used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Android APIs: SQLiteOpenHelper, SQLiteDatabase, Cursor, ContentValues, Binder.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Java APIs: java.util collections, java.nio.file IO, immutable value models.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JSON handling: org.json JSONArray for phone/email persistence encoding.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Testing: custom JVM runner plus AndroidX Test (runner/rules/core/ext.junit).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Core concepts: WAL, transactional sync, soft delete, schema migration, UID ACL.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Architecture concept: clean split between core sync logic and Android persistence layer.</a:t>
            </a:r>
            <a:endParaRPr lang="en-US" sz="1825"/>
          </a:p>
        </p:txBody>
      </p:sp>
      <p:sp>
        <p:nvSpPr>
          <p:cNvPr id="5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22/27</a:t>
            </a:r>
            <a:endParaRPr lang="en-US" sz="115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Migration and Rollout Plan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70739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725">
                <a:solidFill>
                  <a:srgbClr val="1E293B"/>
                </a:solidFill>
                <a:latin typeface="Aptos"/>
              </a:rPr>
              <a:t>• Phase 1 (weeks 1-2): add schema + sync engine behind feature flag.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Phase 2 (weeks 3-4): integrate PBAP/USB adapters, telemetry, permission hardening.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Phase 3 (weeks 5-6): dogfood rollout, benchmark, enable by default.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Upgrade path: create tables/indexes in one DB migration transaction.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Failure handling: fallback to legacy path and retry migration next boot.</a:t>
            </a:r>
            <a:endParaRPr lang="en-US" sz="1725"/>
          </a:p>
          <a:p>
            <a:r>
              <a:rPr lang="en-US" sz="1725">
                <a:solidFill>
                  <a:srgbClr val="1E293B"/>
                </a:solidFill>
                <a:latin typeface="Aptos"/>
              </a:rPr>
              <a:t>• Keep one release cycle with fallback before full deprecation.</a:t>
            </a:r>
            <a:endParaRPr lang="en-US" sz="1725"/>
          </a:p>
        </p:txBody>
      </p:sp>
      <p:pic>
        <p:nvPicPr>
          <p:cNvPr id="5" name="Illustra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7800" y="1300000"/>
            <a:ext cx="3850000" cy="2980000"/>
          </a:xfrm>
          <a:prstGeom prst="rect">
            <a:avLst/>
          </a:prstGeom>
          <a:ln w="19050">
            <a:solidFill>
              <a:srgbClr val="C7D2FE"/>
            </a:solidFill>
          </a:ln>
        </p:spPr>
      </p:pic>
      <p:sp>
        <p:nvSpPr>
          <p:cNvPr id="6" name="Image Caption"/>
          <p:cNvSpPr/>
          <p:nvPr/>
        </p:nvSpPr>
        <p:spPr>
          <a:xfrm>
            <a:off x="7797800" y="4375000"/>
            <a:ext cx="385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ctr"/>
            <a:r>
              <a:rPr lang="en-US" sz="1225">
                <a:solidFill>
                  <a:srgbClr val="475569"/>
                </a:solidFill>
                <a:latin typeface="Aptos"/>
              </a:rPr>
              <a:t>Three-phase rollout with guarded fallback</a:t>
            </a:r>
            <a:endParaRPr lang="en-US" sz="1225"/>
          </a:p>
        </p:txBody>
      </p:sp>
      <p:sp>
        <p:nvSpPr>
          <p:cNvPr id="7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23/27</a:t>
            </a:r>
            <a:endParaRPr lang="en-US" sz="115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Pros and Cons Summary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Approach 1 pros: performance, consistency, migration safety, AAOS fit.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Approach 1 cons: higher initial engineering complexity.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Approach 2 pros: easiest implementation, readable files.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Approach 2 cons: full rewrites, weak query model, no robust transactions.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Approach 3 pros: strong auditability and append durability.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Approach 3 cons: replay/compaction burden and slower read path at scale.</a:t>
            </a:r>
            <a:endParaRPr lang="en-US" sz="1825"/>
          </a:p>
        </p:txBody>
      </p:sp>
      <p:sp>
        <p:nvSpPr>
          <p:cNvPr id="5" name="Footer"/>
          <p:cNvSpPr/>
          <p:nvPr/>
        </p:nvSpPr>
        <p:spPr>
          <a:xfrm>
            <a:off x="457200" y="6464300"/>
            <a:ext cx="860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150">
                <a:solidFill>
                  <a:srgbClr val="475569"/>
                </a:solidFill>
                <a:latin typeface="Aptos"/>
              </a:rPr>
              <a:t>Decision: use Approach 1 as default production architecture.</a:t>
            </a:r>
            <a:endParaRPr lang="en-US" sz="1150"/>
          </a:p>
        </p:txBody>
      </p:sp>
      <p:sp>
        <p:nvSpPr>
          <p:cNvPr id="6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24/27</a:t>
            </a:r>
            <a:endParaRPr lang="en-US" sz="115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How to Present This as a Case Study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Start with user pain: contacts disappear and cold-start is slow.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Show 3 alternatives briefly to demonstrate architecture tradeoff thinking.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Spend most time on Approach 1 and why it is production-ready.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Use code snippets to prove correctness mechanisms are implemented, not theoretical.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Close with test evidence, rollout plan, and risk mitigation to show delivery readiness.</a:t>
            </a:r>
            <a:endParaRPr lang="en-US" sz="1825"/>
          </a:p>
        </p:txBody>
      </p:sp>
      <p:sp>
        <p:nvSpPr>
          <p:cNvPr id="5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25/27</a:t>
            </a:r>
            <a:endParaRPr lang="en-US" sz="115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References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Repository docs: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- docs/AAOS_Persistent_Contacts_Case_Study.md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- approaches/01_sqlite_wal_cache/BEST_APPROACH_STUDY.md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- approaches/01_sqlite_wal_cache/PRODUCTION_DEPLOYMENT_GUIDE.md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- approaches/01_sqlite_wal_cache/aosp_patch/CONTACTS_PROVIDER_PATCH_PLAN.md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Repository code: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- approaches/01_sqlite_wal_cache/src/main/java/...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- approaches/02_json_snapshot_cache/src/main/java/...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- approaches/03_event_log_cache/src/main/java/...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Android references: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- https://developer.android.com/reference/android/database/sqlite/SQLiteOpenHelper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- https://developer.android.com/reference/android/os/Binder#getCallingUid()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- https://source.android.com/docs/security/features/encryption/file-based</a:t>
            </a:r>
            <a:endParaRPr lang="en-US" sz="1825"/>
          </a:p>
        </p:txBody>
      </p:sp>
      <p:sp>
        <p:nvSpPr>
          <p:cNvPr id="5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26/27</a:t>
            </a:r>
            <a:endParaRPr lang="en-US" sz="115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 Accent"/>
          <p:cNvSpPr/>
          <p:nvPr/>
        </p:nvSpPr>
        <p:spPr>
          <a:xfrm>
            <a:off x="0" y="0"/>
            <a:ext cx="12192000" cy="1371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 wrap="square" lIns="91440" tIns="45720" rIns="91440" bIns="45720"/>
          <a:lstStyle/>
          <a:p>
            <a:endParaRPr lang="en-US" sz="1000"/>
          </a:p>
        </p:txBody>
      </p:sp>
      <p:sp>
        <p:nvSpPr>
          <p:cNvPr id="3" name="Title"/>
          <p:cNvSpPr/>
          <p:nvPr/>
        </p:nvSpPr>
        <p:spPr>
          <a:xfrm>
            <a:off x="457200" y="1905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3400" b="1">
                <a:solidFill>
                  <a:srgbClr val="0F172A"/>
                </a:solidFill>
                <a:latin typeface="Aptos Display"/>
              </a:rPr>
              <a:t>Final Recommendation</a:t>
            </a:r>
            <a:endParaRPr lang="en-US" sz="3400"/>
          </a:p>
        </p:txBody>
      </p:sp>
      <p:sp>
        <p:nvSpPr>
          <p:cNvPr id="4" name="Body"/>
          <p:cNvSpPr/>
          <p:nvPr/>
        </p:nvSpPr>
        <p:spPr>
          <a:xfrm>
            <a:off x="457200" y="914400"/>
            <a:ext cx="11277600" cy="5003800"/>
          </a:xfrm>
          <a:prstGeom prst="rect">
            <a:avLst/>
          </a:prstGeom>
          <a:solidFill>
            <a:srgbClr val="FFFFFF"/>
          </a:solidFill>
          <a:ln w="19050">
            <a:solidFill>
              <a:srgbClr val="DBE6FB"/>
            </a:solidFill>
          </a:ln>
        </p:spPr>
        <p:txBody>
          <a:bodyPr wrap="square" lIns="91440" tIns="45720" rIns="91440" bIns="45720"/>
          <a:lstStyle/>
          <a:p>
            <a:r>
              <a:rPr lang="en-US" sz="1825">
                <a:solidFill>
                  <a:srgbClr val="1E293B"/>
                </a:solidFill>
                <a:latin typeface="Aptos"/>
              </a:rPr>
              <a:t>• Adopt SQLite + WAL + sync metadata as the production baseline.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Keep JSON snapshot and event log variants as learning/prototype options.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Prioritize migration safety, access controls, and instrumentation in rollout.</a:t>
            </a:r>
            <a:endParaRPr lang="en-US" sz="1825"/>
          </a:p>
          <a:p>
            <a:r>
              <a:rPr lang="en-US" sz="1825">
                <a:solidFill>
                  <a:srgbClr val="1E293B"/>
                </a:solidFill>
                <a:latin typeface="Aptos"/>
              </a:rPr>
              <a:t>• This repo already provides a strong foundation for AAOS integration.</a:t>
            </a:r>
            <a:endParaRPr lang="en-US" sz="1825"/>
          </a:p>
        </p:txBody>
      </p:sp>
      <p:sp>
        <p:nvSpPr>
          <p:cNvPr id="5" name="Footer"/>
          <p:cNvSpPr/>
          <p:nvPr/>
        </p:nvSpPr>
        <p:spPr>
          <a:xfrm>
            <a:off x="457200" y="6464300"/>
            <a:ext cx="86000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r>
              <a:rPr lang="en-US" sz="1150">
                <a:solidFill>
                  <a:srgbClr val="475569"/>
                </a:solidFill>
                <a:latin typeface="Aptos"/>
              </a:rPr>
              <a:t>End of case study deck</a:t>
            </a:r>
            <a:endParaRPr lang="en-US" sz="1150"/>
          </a:p>
        </p:txBody>
      </p:sp>
      <p:sp>
        <p:nvSpPr>
          <p:cNvPr id="6" name="Slide Number"/>
          <p:cNvSpPr/>
          <p:nvPr/>
        </p:nvSpPr>
        <p:spPr>
          <a:xfrm>
            <a:off x="9906000" y="6464300"/>
            <a:ext cx="1437800" cy="304800"/>
          </a:xfrm>
          <a:prstGeom prst="rect">
            <a:avLst/>
          </a:prstGeom>
          <a:noFill/>
          <a:ln>
            <a:noFill/>
          </a:ln>
        </p:spPr>
        <p:txBody>
          <a:bodyPr wrap="square" lIns="91440" tIns="45720" rIns="91440" bIns="45720"/>
          <a:lstStyle/>
          <a:p>
            <a:pPr algn="r"/>
            <a:r>
              <a:rPr lang="en-US" sz="1150">
                <a:solidFill>
                  <a:srgbClr val="64748B"/>
                </a:solidFill>
                <a:latin typeface="Aptos"/>
              </a:rPr>
              <a:t>27/27</a:t>
            </a:r>
            <a:endParaRPr lang="en-US" sz="11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se Study Theme">
  <a:themeElements>
    <a:clrScheme name="Case Study">
      <a:dk1>
        <a:srgbClr val="0F172A"/>
      </a:dk1>
      <a:lt1>
        <a:srgbClr val="FFFFFF"/>
      </a:lt1>
      <a:dk2>
        <a:srgbClr val="1E293B"/>
      </a:dk2>
      <a:lt2>
        <a:srgbClr val="E2E8F0"/>
      </a:lt2>
      <a:accent1>
        <a:srgbClr val="2563EB"/>
      </a:accent1>
      <a:accent2>
        <a:srgbClr val="0F766E"/>
      </a:accent2>
      <a:accent3>
        <a:srgbClr val="D97706"/>
      </a:accent3>
      <a:accent4>
        <a:srgbClr val="0EA5E9"/>
      </a:accent4>
      <a:accent5>
        <a:srgbClr val="DC2626"/>
      </a:accent5>
      <a:accent6>
        <a:srgbClr val="7C3AED"/>
      </a:accent6>
      <a:hlink>
        <a:srgbClr val="2563EB"/>
      </a:hlink>
      <a:folHlink>
        <a:srgbClr val="7C3AED"/>
      </a:folHlink>
    </a:clrScheme>
    <a:fontScheme name="Case Study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 name="Case Study">
      <a:fillStyleLst>
        <a:solidFill>
          <a:schemeClr val="phClr"/>
        </a:solidFill>
        <a:gradFill rotWithShape="1">
          <a:gsLst>
            <a:gs pos="0">
              <a:schemeClr val="phClr">
                <a:satMod val="103000"/>
                <a:lumMod val="102000"/>
              </a:schemeClr>
            </a:gs>
            <a:gs pos="100000">
              <a:schemeClr val="phClr">
                <a:satMod val="99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10000"/>
                <a:satMod val="105000"/>
              </a:schemeClr>
            </a:gs>
            <a:gs pos="100000">
              <a:schemeClr val="phClr">
                <a:lumMod val="100000"/>
                <a:sat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  <a:ln w="381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</a:schemeClr>
            </a:gs>
            <a:gs pos="100000">
              <a:schemeClr val="phClr">
                <a:tint val="98000"/>
                <a:satMod val="13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27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Case Study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AAOS Persistent Contacts Cache Case Study</dc:title>
  <dc:subject>Approach comparison and recommended architecture</dc:subject>
  <dc:creator>Codex</dc:creator>
  <cp:lastModifiedBy>Codex</cp:lastModifiedBy>
  <dcterms:created xsi:type="dcterms:W3CDTF">2026-02-18T19:02:02Z</dcterms:created>
  <dcterms:modified xsi:type="dcterms:W3CDTF">2026-02-18T19:02:02Z</dcterms:modified>
</cp:coreProperties>
</file>